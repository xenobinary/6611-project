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embeddedFontLst>
    <p:embeddedFont>
      <p:font typeface="Tahoma" panose="020B0604030504040204" pitchFamily="34" charset="0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FFB486D-6BB2-47A7-A367-C6903840951B}">
  <a:tblStyle styleId="{EFFB486D-6BB2-47A7-A367-C690384095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30"/>
  </p:normalViewPr>
  <p:slideViewPr>
    <p:cSldViewPr snapToGrid="0">
      <p:cViewPr varScale="1">
        <p:scale>
          <a:sx n="113" d="100"/>
          <a:sy n="113" d="100"/>
        </p:scale>
        <p:origin x="1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412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ECA169D7-4990-106D-220C-F3EEF8E1F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otes Placeholder 5">
            <a:extLst>
              <a:ext uri="{FF2B5EF4-FFF2-40B4-BE49-F238E27FC236}">
                <a16:creationId xmlns:a16="http://schemas.microsoft.com/office/drawing/2014/main" id="{875CBBEE-97B0-EA60-8BF9-058D13439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8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>
            <a:extLst>
              <a:ext uri="{FF2B5EF4-FFF2-40B4-BE49-F238E27FC236}">
                <a16:creationId xmlns:a16="http://schemas.microsoft.com/office/drawing/2014/main" id="{12EEE629-1641-4D08-97D6-5FC91E93F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>
            <a:extLst>
              <a:ext uri="{FF2B5EF4-FFF2-40B4-BE49-F238E27FC236}">
                <a16:creationId xmlns:a16="http://schemas.microsoft.com/office/drawing/2014/main" id="{4C8D2850-E73A-45E0-A3DF-37B817314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∙"/>
              <a:defRPr/>
            </a:lvl1pPr>
            <a:lvl2pPr algn="l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SzPts val="1350"/>
              <a:buChar char="−"/>
              <a:defRPr/>
            </a:lvl2pPr>
            <a:lvl3pPr algn="l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SzPts val="810"/>
              <a:buChar char="●"/>
              <a:defRPr/>
            </a:lvl3pPr>
            <a:lvl4pPr algn="l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SzPts val="1350"/>
              <a:buChar char="−"/>
              <a:defRPr/>
            </a:lvl4pPr>
            <a:lvl5pPr algn="l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SzPts val="810"/>
              <a:buChar char="●"/>
              <a:defRPr/>
            </a:lvl5pPr>
            <a:lvl6pPr algn="l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SzPts val="810"/>
              <a:buChar char="●"/>
              <a:defRPr/>
            </a:lvl6pPr>
            <a:lvl7pPr algn="l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SzPts val="810"/>
              <a:buChar char="●"/>
              <a:defRPr/>
            </a:lvl7pPr>
            <a:lvl8pPr algn="l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>
            <a:extLst>
              <a:ext uri="{FF2B5EF4-FFF2-40B4-BE49-F238E27FC236}">
                <a16:creationId xmlns:a16="http://schemas.microsoft.com/office/drawing/2014/main" id="{B8AFBCF1-81D9-44E4-959F-110674A61BC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08240" y="6378480"/>
            <a:ext cx="2925360" cy="34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>
            <a:extLst>
              <a:ext uri="{FF2B5EF4-FFF2-40B4-BE49-F238E27FC236}">
                <a16:creationId xmlns:a16="http://schemas.microsoft.com/office/drawing/2014/main" id="{5C8B44EC-2B15-49E7-BAA9-4A2071D3EC4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080" y="6607080"/>
            <a:ext cx="178920" cy="15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7" name="Google Shape;17;p2">
            <a:extLst>
              <a:ext uri="{FF2B5EF4-FFF2-40B4-BE49-F238E27FC236}">
                <a16:creationId xmlns:a16="http://schemas.microsoft.com/office/drawing/2014/main" id="{578EAA68-622C-43DC-B476-1549FB30767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78480"/>
            <a:ext cx="2103120" cy="34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8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E5E956CA-58DA-428F-939E-F5A2085E661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08240" y="6378480"/>
            <a:ext cx="2925360" cy="34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>
            <a:extLst>
              <a:ext uri="{FF2B5EF4-FFF2-40B4-BE49-F238E27FC236}">
                <a16:creationId xmlns:a16="http://schemas.microsoft.com/office/drawing/2014/main" id="{E2E6ECD7-C38C-46E3-8EEA-3019D19AF4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080" y="6607080"/>
            <a:ext cx="178920" cy="15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1" name="Google Shape;21;p3">
            <a:extLst>
              <a:ext uri="{FF2B5EF4-FFF2-40B4-BE49-F238E27FC236}">
                <a16:creationId xmlns:a16="http://schemas.microsoft.com/office/drawing/2014/main" id="{C724EDFF-3C4F-44B6-AD9D-F145DDA362D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78480"/>
            <a:ext cx="2103120" cy="34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F1B155FB-B35D-46A9-B238-5064B22814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3640" cy="6857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09159EF8-6C5C-4EFA-B1C8-9A2FFCF4899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08240" y="6378480"/>
            <a:ext cx="2925360" cy="34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28FE9501-9912-4FDD-8484-0D5B9FECB34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78480"/>
            <a:ext cx="2103120" cy="34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400"/>
              <a:buFont typeface="Calibri"/>
              <a:buNone/>
              <a:defRPr sz="1400" b="0" i="0" u="none" cap="none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" name="Google Shape;9;p1">
            <a:extLst>
              <a:ext uri="{FF2B5EF4-FFF2-40B4-BE49-F238E27FC236}">
                <a16:creationId xmlns:a16="http://schemas.microsoft.com/office/drawing/2014/main" id="{895639D8-98F4-463E-8F68-A9377CFCA34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080" y="6607080"/>
            <a:ext cx="178920" cy="15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imes New Roman"/>
              <a:buNone/>
              <a:defRPr sz="1000" b="0" i="0" u="non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0" name="Google Shape;10;p1">
            <a:extLst>
              <a:ext uri="{FF2B5EF4-FFF2-40B4-BE49-F238E27FC236}">
                <a16:creationId xmlns:a16="http://schemas.microsoft.com/office/drawing/2014/main" id="{A37E1A23-E26B-44A7-87D7-AE769ED9B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ahoma"/>
              <a:buNone/>
              <a:defRPr sz="4000" b="1" i="0" u="none" cap="none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" name="Google Shape;11;p1">
            <a:extLst>
              <a:ext uri="{FF2B5EF4-FFF2-40B4-BE49-F238E27FC236}">
                <a16:creationId xmlns:a16="http://schemas.microsoft.com/office/drawing/2014/main" id="{6555A8DB-51AB-4EE9-847C-7C7100F36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>
            <a:lvl1pPr marL="457200" marR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  <a:defRPr sz="24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L="914400" marR="0" indent="-342900" algn="l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marL="1371600" marR="0" indent="-297180" algn="l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marL="1828800" marR="0" indent="-342900" algn="l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marL="2286000" marR="0" indent="-297180" algn="l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marL="2743200" marR="0" indent="-297180" algn="l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marL="3200400" marR="0" indent="-297180" algn="l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marL="3657600" marR="0" indent="-228600" algn="l">
              <a:lnSpc>
                <a:spcPct val="100000"/>
              </a:lnSpc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xenobinary/6611-project/tree/master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xenobinary/6611-project/tree/master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xenobinary/6611-project/tree/master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doi.org/10.1109/32.295895" TargetMode="External"/><Relationship Id="rId4" Type="http://schemas.openxmlformats.org/officeDocument/2006/relationships/hyperlink" Target="https://doi.org/10.1109/TSE.1976.233837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zenodo.org/record/1217609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07/979-8-8688-2338-1_6" TargetMode="External"/><Relationship Id="rId5" Type="http://schemas.openxmlformats.org/officeDocument/2006/relationships/hyperlink" Target="https://www.methodsandtools.com/archive/archive.php?id=25" TargetMode="External"/><Relationship Id="rId4" Type="http://schemas.openxmlformats.org/officeDocument/2006/relationships/hyperlink" Target="https://doi.org/10.1007/3-540-45441-1_35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>
            <a:extLst>
              <a:ext uri="{FF2B5EF4-FFF2-40B4-BE49-F238E27FC236}">
                <a16:creationId xmlns:a16="http://schemas.microsoft.com/office/drawing/2014/main" id="{CAAD43DD-4E7C-42F5-A278-16871CA985AB}"/>
              </a:ext>
            </a:extLst>
          </p:cNvPr>
          <p:cNvSpPr>
            <a:spLocks noGrp="1"/>
          </p:cNvSpPr>
          <p:nvPr/>
        </p:nvSpPr>
        <p:spPr>
          <a:xfrm>
            <a:off x="3486240" y="5641920"/>
            <a:ext cx="2296800" cy="305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i="0" u="none" cap="none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July 2026</a:t>
            </a:r>
          </a:p>
        </p:txBody>
      </p:sp>
      <p:sp>
        <p:nvSpPr>
          <p:cNvPr id="27" name="Google Shape;27;p4">
            <a:extLst>
              <a:ext uri="{FF2B5EF4-FFF2-40B4-BE49-F238E27FC236}">
                <a16:creationId xmlns:a16="http://schemas.microsoft.com/office/drawing/2014/main" id="{20B7E208-1613-4037-B30C-0F43F753D6C6}"/>
              </a:ext>
            </a:extLst>
          </p:cNvPr>
          <p:cNvSpPr>
            <a:spLocks noGrp="1"/>
          </p:cNvSpPr>
          <p:nvPr/>
        </p:nvSpPr>
        <p:spPr>
          <a:xfrm>
            <a:off x="303120" y="104760"/>
            <a:ext cx="8662680" cy="812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28" name="Google Shape;28;p4">
            <a:extLst>
              <a:ext uri="{FF2B5EF4-FFF2-40B4-BE49-F238E27FC236}">
                <a16:creationId xmlns:a16="http://schemas.microsoft.com/office/drawing/2014/main" id="{8C39EC9C-3869-4D0D-8844-E02200CA0B65}"/>
              </a:ext>
            </a:extLst>
          </p:cNvPr>
          <p:cNvSpPr>
            <a:spLocks noGrp="1"/>
          </p:cNvSpPr>
          <p:nvPr/>
        </p:nvSpPr>
        <p:spPr>
          <a:xfrm>
            <a:off x="588960" y="23796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cap="none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iBank: Delivery 3</a:t>
            </a:r>
          </a:p>
        </p:txBody>
      </p:sp>
      <p:sp>
        <p:nvSpPr>
          <p:cNvPr id="29" name="Google Shape;29;p4">
            <a:extLst>
              <a:ext uri="{FF2B5EF4-FFF2-40B4-BE49-F238E27FC236}">
                <a16:creationId xmlns:a16="http://schemas.microsoft.com/office/drawing/2014/main" id="{A4C67205-2B91-4AA2-8A95-EE0467C0E270}"/>
              </a:ext>
            </a:extLst>
          </p:cNvPr>
          <p:cNvSpPr>
            <a:spLocks noGrp="1"/>
          </p:cNvSpPr>
          <p:nvPr/>
        </p:nvSpPr>
        <p:spPr>
          <a:xfrm>
            <a:off x="303120" y="983661"/>
            <a:ext cx="784234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cap="none" noProof="1">
                <a:solidFill>
                  <a:srgbClr val="666666"/>
                </a:solidFill>
                <a:latin typeface="Arial"/>
                <a:ea typeface="Arial"/>
                <a:cs typeface="Arial"/>
              </a:rPr>
              <a:t>Project of SOEN 6611 - Software Measurement</a:t>
            </a:r>
          </a:p>
        </p:txBody>
      </p:sp>
      <p:sp>
        <p:nvSpPr>
          <p:cNvPr id="30" name="Google Shape;30;p4">
            <a:extLst>
              <a:ext uri="{FF2B5EF4-FFF2-40B4-BE49-F238E27FC236}">
                <a16:creationId xmlns:a16="http://schemas.microsoft.com/office/drawing/2014/main" id="{3E51914C-D2C8-43C0-B611-F4F0748F68FF}"/>
              </a:ext>
            </a:extLst>
          </p:cNvPr>
          <p:cNvSpPr>
            <a:spLocks noGrp="1"/>
          </p:cNvSpPr>
          <p:nvPr/>
        </p:nvSpPr>
        <p:spPr>
          <a:xfrm>
            <a:off x="2513532" y="2667000"/>
            <a:ext cx="6305700" cy="14436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E6B8AF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lang="en-US" noProof="1"/>
          </a:p>
        </p:txBody>
      </p:sp>
      <p:sp>
        <p:nvSpPr>
          <p:cNvPr id="31" name="Google Shape;31;p4">
            <a:extLst>
              <a:ext uri="{FF2B5EF4-FFF2-40B4-BE49-F238E27FC236}">
                <a16:creationId xmlns:a16="http://schemas.microsoft.com/office/drawing/2014/main" id="{F40C251E-D1D0-4215-9510-57DB746505F0}"/>
              </a:ext>
            </a:extLst>
          </p:cNvPr>
          <p:cNvSpPr>
            <a:spLocks noGrp="1"/>
          </p:cNvSpPr>
          <p:nvPr/>
        </p:nvSpPr>
        <p:spPr>
          <a:xfrm>
            <a:off x="2660113" y="2667000"/>
            <a:ext cx="5079900" cy="15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cap="none" noProof="1">
                <a:solidFill>
                  <a:srgbClr val="333333"/>
                </a:solidFill>
                <a:latin typeface="Arial"/>
                <a:ea typeface="Arial"/>
                <a:cs typeface="Arial"/>
              </a:rPr>
              <a:t>WEI HUANG   |   40109362</a:t>
            </a:r>
          </a:p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cap="none" noProof="1">
                <a:solidFill>
                  <a:srgbClr val="333333"/>
                </a:solidFill>
                <a:latin typeface="Arial"/>
                <a:ea typeface="Arial"/>
                <a:cs typeface="Arial"/>
              </a:rPr>
              <a:t>YICHEN HUANG   |   40167688</a:t>
            </a:r>
          </a:p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cap="none" noProof="1">
                <a:solidFill>
                  <a:srgbClr val="333333"/>
                </a:solidFill>
                <a:latin typeface="Arial"/>
                <a:ea typeface="Arial"/>
                <a:cs typeface="Arial"/>
              </a:rPr>
              <a:t>QIANG XUE   |   40300671</a:t>
            </a:r>
          </a:p>
        </p:txBody>
      </p:sp>
      <p:sp>
        <p:nvSpPr>
          <p:cNvPr id="32" name="Google Shape;32;p4">
            <a:extLst>
              <a:ext uri="{FF2B5EF4-FFF2-40B4-BE49-F238E27FC236}">
                <a16:creationId xmlns:a16="http://schemas.microsoft.com/office/drawing/2014/main" id="{F7675F1B-50E7-4680-A1AC-38122BC40A7D}"/>
              </a:ext>
            </a:extLst>
          </p:cNvPr>
          <p:cNvSpPr>
            <a:spLocks noGrp="1"/>
          </p:cNvSpPr>
          <p:nvPr/>
        </p:nvSpPr>
        <p:spPr>
          <a:xfrm rot="5400000">
            <a:off x="2409178" y="3283038"/>
            <a:ext cx="200700" cy="173700"/>
          </a:xfrm>
          <a:prstGeom prst="triangle">
            <a:avLst>
              <a:gd name="adj" fmla="val 50000"/>
            </a:avLst>
          </a:prstGeom>
          <a:solidFill>
            <a:srgbClr val="DD7E6B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noProof="1"/>
          </a:p>
        </p:txBody>
      </p:sp>
      <p:sp>
        <p:nvSpPr>
          <p:cNvPr id="33" name="Google Shape;33;p4">
            <a:extLst>
              <a:ext uri="{FF2B5EF4-FFF2-40B4-BE49-F238E27FC236}">
                <a16:creationId xmlns:a16="http://schemas.microsoft.com/office/drawing/2014/main" id="{8307BEF6-3D39-4821-BF0B-2C46DCB29BAF}"/>
              </a:ext>
            </a:extLst>
          </p:cNvPr>
          <p:cNvSpPr>
            <a:spLocks noGrp="1"/>
          </p:cNvSpPr>
          <p:nvPr/>
        </p:nvSpPr>
        <p:spPr>
          <a:xfrm>
            <a:off x="395175" y="3204878"/>
            <a:ext cx="18963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cap="none" noProof="1">
                <a:solidFill>
                  <a:srgbClr val="912338"/>
                </a:solidFill>
                <a:latin typeface="Arial"/>
                <a:ea typeface="Arial"/>
                <a:cs typeface="Arial"/>
              </a:rPr>
              <a:t>ANALYST | REVIEWER</a:t>
            </a:r>
          </a:p>
        </p:txBody>
      </p:sp>
      <p:sp>
        <p:nvSpPr>
          <p:cNvPr id="34" name="Google Shape;34;p4">
            <a:extLst>
              <a:ext uri="{FF2B5EF4-FFF2-40B4-BE49-F238E27FC236}">
                <a16:creationId xmlns:a16="http://schemas.microsoft.com/office/drawing/2014/main" id="{3E2D7B1A-DD1F-45ED-8150-EDC6D21CD6EE}"/>
              </a:ext>
            </a:extLst>
          </p:cNvPr>
          <p:cNvSpPr>
            <a:spLocks noGrp="1"/>
          </p:cNvSpPr>
          <p:nvPr/>
        </p:nvSpPr>
        <p:spPr>
          <a:xfrm>
            <a:off x="3263238" y="4030100"/>
            <a:ext cx="200700" cy="173700"/>
          </a:xfrm>
          <a:prstGeom prst="triangle">
            <a:avLst>
              <a:gd name="adj" fmla="val 50000"/>
            </a:avLst>
          </a:prstGeom>
          <a:solidFill>
            <a:srgbClr val="DD7E6B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noProof="1"/>
          </a:p>
        </p:txBody>
      </p:sp>
      <p:sp>
        <p:nvSpPr>
          <p:cNvPr id="35" name="Google Shape;35;p4">
            <a:extLst>
              <a:ext uri="{FF2B5EF4-FFF2-40B4-BE49-F238E27FC236}">
                <a16:creationId xmlns:a16="http://schemas.microsoft.com/office/drawing/2014/main" id="{35ADB42B-703B-421C-A634-15FE1C36E206}"/>
              </a:ext>
            </a:extLst>
          </p:cNvPr>
          <p:cNvSpPr>
            <a:spLocks noGrp="1"/>
          </p:cNvSpPr>
          <p:nvPr/>
        </p:nvSpPr>
        <p:spPr>
          <a:xfrm>
            <a:off x="2477703" y="4288400"/>
            <a:ext cx="17718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cap="none" noProof="1">
                <a:solidFill>
                  <a:srgbClr val="912338"/>
                </a:solidFill>
                <a:latin typeface="Arial"/>
                <a:ea typeface="Arial"/>
                <a:cs typeface="Arial"/>
              </a:rPr>
              <a:t>LEAD | CODER | WRITER</a:t>
            </a:r>
          </a:p>
        </p:txBody>
      </p:sp>
      <p:sp>
        <p:nvSpPr>
          <p:cNvPr id="36" name="Google Shape;36;p4">
            <a:extLst>
              <a:ext uri="{FF2B5EF4-FFF2-40B4-BE49-F238E27FC236}">
                <a16:creationId xmlns:a16="http://schemas.microsoft.com/office/drawing/2014/main" id="{46875050-6921-4FF9-9F5A-7B84234122B5}"/>
              </a:ext>
            </a:extLst>
          </p:cNvPr>
          <p:cNvSpPr>
            <a:spLocks noGrp="1"/>
          </p:cNvSpPr>
          <p:nvPr/>
        </p:nvSpPr>
        <p:spPr>
          <a:xfrm rot="10800000">
            <a:off x="3263238" y="2570165"/>
            <a:ext cx="200700" cy="173700"/>
          </a:xfrm>
          <a:prstGeom prst="triangle">
            <a:avLst>
              <a:gd name="adj" fmla="val 50000"/>
            </a:avLst>
          </a:prstGeom>
          <a:solidFill>
            <a:srgbClr val="DD7E6B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noProof="1"/>
          </a:p>
        </p:txBody>
      </p:sp>
      <p:sp>
        <p:nvSpPr>
          <p:cNvPr id="37" name="Google Shape;37;p4">
            <a:extLst>
              <a:ext uri="{FF2B5EF4-FFF2-40B4-BE49-F238E27FC236}">
                <a16:creationId xmlns:a16="http://schemas.microsoft.com/office/drawing/2014/main" id="{1D395251-486E-4CBC-AE79-C3909874A465}"/>
              </a:ext>
            </a:extLst>
          </p:cNvPr>
          <p:cNvSpPr>
            <a:spLocks noGrp="1"/>
          </p:cNvSpPr>
          <p:nvPr/>
        </p:nvSpPr>
        <p:spPr>
          <a:xfrm>
            <a:off x="2288849" y="2191490"/>
            <a:ext cx="21495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cap="none" noProof="1">
                <a:solidFill>
                  <a:srgbClr val="912338"/>
                </a:solidFill>
                <a:latin typeface="Arial"/>
                <a:ea typeface="Arial"/>
                <a:cs typeface="Arial"/>
              </a:rPr>
              <a:t>DESIGNER | EVALUATOR</a:t>
            </a:r>
          </a:p>
        </p:txBody>
      </p:sp>
      <p:sp>
        <p:nvSpPr>
          <p:cNvPr id="38" name="Google Shape;38;p4">
            <a:extLst>
              <a:ext uri="{FF2B5EF4-FFF2-40B4-BE49-F238E27FC236}">
                <a16:creationId xmlns:a16="http://schemas.microsoft.com/office/drawing/2014/main" id="{35FCE913-A9BC-4591-9283-A827F632AEA2}"/>
              </a:ext>
            </a:extLst>
          </p:cNvPr>
          <p:cNvSpPr>
            <a:spLocks noGrp="1"/>
          </p:cNvSpPr>
          <p:nvPr/>
        </p:nvSpPr>
        <p:spPr>
          <a:xfrm>
            <a:off x="6105925" y="3092850"/>
            <a:ext cx="1742400" cy="5541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2">
                <a:alpha val="50196"/>
              </a:schemeClr>
            </a:outerShdw>
          </a:effectLst>
        </p:spPr>
        <p:txBody>
          <a:bodyPr spcFirstLastPara="1" wrap="square" lIns="91425" tIns="91425" rIns="91425" bIns="91425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noProof="1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 TEAM</a:t>
            </a:r>
            <a:r>
              <a:rPr lang="en-US" sz="2400" b="1" i="0" u="none" cap="none" noProof="1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C</a:t>
            </a:r>
          </a:p>
        </p:txBody>
      </p:sp>
    </p:spTree>
    <p:extLst>
      <p:ext uri="{BB962C8B-B14F-4D97-AF65-F5344CB8AC3E}">
        <p14:creationId xmlns:p14="http://schemas.microsoft.com/office/powerpoint/2010/main" val="981031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>
            <a:extLst>
              <a:ext uri="{FF2B5EF4-FFF2-40B4-BE49-F238E27FC236}">
                <a16:creationId xmlns:a16="http://schemas.microsoft.com/office/drawing/2014/main" id="{1549B0C5-40DA-4627-A6B2-F50511D9FA2A}"/>
              </a:ext>
            </a:extLst>
          </p:cNvPr>
          <p:cNvSpPr>
            <a:spLocks noGrp="1"/>
          </p:cNvSpPr>
          <p:nvPr/>
        </p:nvSpPr>
        <p:spPr>
          <a:xfrm>
            <a:off x="303480" y="105120"/>
            <a:ext cx="8662680" cy="812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44" name="Google Shape;44;p5">
            <a:extLst>
              <a:ext uri="{FF2B5EF4-FFF2-40B4-BE49-F238E27FC236}">
                <a16:creationId xmlns:a16="http://schemas.microsoft.com/office/drawing/2014/main" id="{A35ED54C-3CD6-42F1-AD5F-0AB4DCA740AE}"/>
              </a:ext>
            </a:extLst>
          </p:cNvPr>
          <p:cNvSpPr>
            <a:spLocks noGrp="1"/>
          </p:cNvSpPr>
          <p:nvPr/>
        </p:nvSpPr>
        <p:spPr>
          <a:xfrm>
            <a:off x="589320" y="23832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6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cap="none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Agenda</a:t>
            </a:r>
          </a:p>
        </p:txBody>
      </p:sp>
      <p:sp>
        <p:nvSpPr>
          <p:cNvPr id="45" name="Google Shape;45;p5">
            <a:extLst>
              <a:ext uri="{FF2B5EF4-FFF2-40B4-BE49-F238E27FC236}">
                <a16:creationId xmlns:a16="http://schemas.microsoft.com/office/drawing/2014/main" id="{E11CE4D3-EEFB-430C-86CA-B4C14B41F800}"/>
              </a:ext>
            </a:extLst>
          </p:cNvPr>
          <p:cNvSpPr>
            <a:spLocks noGrp="1"/>
          </p:cNvSpPr>
          <p:nvPr/>
        </p:nvSpPr>
        <p:spPr>
          <a:xfrm>
            <a:off x="589320" y="1352550"/>
            <a:ext cx="8091000" cy="4421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3"/>
              </a:spcAft>
              <a:buNone/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900" b="1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1. Problem 7: Cyclomatic Complexity</a:t>
            </a:r>
          </a:p>
          <a:p>
            <a:pPr>
              <a:lnSpc>
                <a:spcPct val="108000"/>
              </a:lnSpc>
              <a:spcAft>
                <a:spcPts val="18"/>
              </a:spcAft>
              <a:buNone/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900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• Method-level CC1, the onOk hotspot, and one targeted refactoring</a:t>
            </a:r>
          </a:p>
          <a:p>
            <a:pPr>
              <a:lnSpc>
                <a:spcPct val="108000"/>
              </a:lnSpc>
              <a:spcAft>
                <a:spcPts val="18"/>
              </a:spcAft>
              <a:buNone/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endParaRPr lang="en-US" sz="1900" noProof="1">
              <a:solidFill>
                <a:srgbClr val="555555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8000"/>
              </a:lnSpc>
              <a:spcAft>
                <a:spcPts val="3"/>
              </a:spcAft>
              <a:buNone/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900" b="1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2. Problem 8: Object-Oriented Metrics</a:t>
            </a:r>
          </a:p>
          <a:p>
            <a:pPr>
              <a:lnSpc>
                <a:spcPct val="108000"/>
              </a:lnSpc>
              <a:spcAft>
                <a:spcPts val="18"/>
              </a:spcAft>
              <a:buNone/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900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• WMC roll-up, CF/LCOM* hotspots, and design actions</a:t>
            </a:r>
          </a:p>
          <a:p>
            <a:pPr>
              <a:lnSpc>
                <a:spcPct val="108000"/>
              </a:lnSpc>
              <a:spcAft>
                <a:spcPts val="18"/>
              </a:spcAft>
              <a:buNone/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endParaRPr lang="en-US" sz="1900" noProof="1">
              <a:solidFill>
                <a:srgbClr val="555555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8000"/>
              </a:lnSpc>
              <a:spcAft>
                <a:spcPts val="3"/>
              </a:spcAft>
              <a:buNone/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900" b="1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3. Problem 9: Use Case Points</a:t>
            </a:r>
          </a:p>
          <a:p>
            <a:pPr>
              <a:lnSpc>
                <a:spcPct val="108000"/>
              </a:lnSpc>
              <a:spcAft>
                <a:spcPts val="18"/>
              </a:spcAft>
              <a:buNone/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900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• UAW/UUCW, adjustment factors, and effort calibration</a:t>
            </a:r>
          </a:p>
          <a:p>
            <a:pPr>
              <a:lnSpc>
                <a:spcPct val="108000"/>
              </a:lnSpc>
              <a:spcAft>
                <a:spcPts val="18"/>
              </a:spcAft>
              <a:buNone/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endParaRPr lang="en-US" sz="1900" noProof="1">
              <a:solidFill>
                <a:srgbClr val="555555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8000"/>
              </a:lnSpc>
              <a:spcAft>
                <a:spcPts val="3"/>
              </a:spcAft>
              <a:buNone/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900" b="1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4. Problem 10: Correlation Analysis</a:t>
            </a:r>
          </a:p>
          <a:p>
            <a:pPr>
              <a:lnSpc>
                <a:spcPct val="108000"/>
              </a:lnSpc>
              <a:spcAft>
                <a:spcPts val="18"/>
              </a:spcAft>
              <a:buNone/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900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• Scatter plot, Spearman coefficient, and interpretation</a:t>
            </a:r>
          </a:p>
          <a:p>
            <a:pPr>
              <a:lnSpc>
                <a:spcPct val="108000"/>
              </a:lnSpc>
              <a:spcAft>
                <a:spcPts val="18"/>
              </a:spcAft>
              <a:buNone/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endParaRPr lang="en-US" sz="1900" noProof="1">
              <a:solidFill>
                <a:srgbClr val="555555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8000"/>
              </a:lnSpc>
              <a:spcAft>
                <a:spcPts val="3"/>
              </a:spcAft>
              <a:buNone/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900" b="1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5. Final GQM Synthesis &amp; Appendix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900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• Return to the revised goal, then appendix and Q&amp;A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A80007-E148-9BAF-F18A-517480B7DC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404264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>
            <a:extLst>
              <a:ext uri="{FF2B5EF4-FFF2-40B4-BE49-F238E27FC236}">
                <a16:creationId xmlns:a16="http://schemas.microsoft.com/office/drawing/2014/main" id="{E320CCC7-0255-41A0-9934-AD9AE2A7894E}"/>
              </a:ext>
            </a:extLst>
          </p:cNvPr>
          <p:cNvSpPr>
            <a:spLocks noGrp="1"/>
          </p:cNvSpPr>
          <p:nvPr/>
        </p:nvSpPr>
        <p:spPr>
          <a:xfrm>
            <a:off x="240660" y="1006562"/>
            <a:ext cx="866268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1" noProof="1">
                <a:solidFill>
                  <a:srgbClr val="666666"/>
                </a:solidFill>
              </a:rPr>
              <a:t>Every result is recomputed on the latest repository commit. (Kamthan, 2026d)</a:t>
            </a:r>
          </a:p>
        </p:txBody>
      </p:sp>
      <p:sp>
        <p:nvSpPr>
          <p:cNvPr id="189" name="Google Shape;189;p13">
            <a:extLst>
              <a:ext uri="{FF2B5EF4-FFF2-40B4-BE49-F238E27FC236}">
                <a16:creationId xmlns:a16="http://schemas.microsoft.com/office/drawing/2014/main" id="{2284FF1A-C559-4F58-9D04-396615F981FE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190" name="Google Shape;190;p13">
            <a:extLst>
              <a:ext uri="{FF2B5EF4-FFF2-40B4-BE49-F238E27FC236}">
                <a16:creationId xmlns:a16="http://schemas.microsoft.com/office/drawing/2014/main" id="{B065B529-281F-4289-8E80-EF6332E700AF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Problems 7-10: Measurement Baseline</a:t>
            </a:r>
          </a:p>
        </p:txBody>
      </p:sp>
      <p:sp>
        <p:nvSpPr>
          <p:cNvPr id="191" name="Google Shape;191;p13">
            <a:extLst>
              <a:ext uri="{FF2B5EF4-FFF2-40B4-BE49-F238E27FC236}">
                <a16:creationId xmlns:a16="http://schemas.microsoft.com/office/drawing/2014/main" id="{559B967F-C79E-4A36-80E8-5F529E6E5E5E}"/>
              </a:ext>
            </a:extLst>
          </p:cNvPr>
          <p:cNvSpPr>
            <a:spLocks noGrp="1"/>
          </p:cNvSpPr>
          <p:nvPr/>
        </p:nvSpPr>
        <p:spPr>
          <a:xfrm>
            <a:off x="552451" y="1721161"/>
            <a:ext cx="3857625" cy="2667000"/>
          </a:xfrm>
          <a:prstGeom prst="roundRect">
            <a:avLst>
              <a:gd name="adj" fmla="val 0"/>
            </a:avLst>
          </a:prstGeom>
          <a:solidFill>
            <a:srgbClr val="F7F3F4"/>
          </a:solidFill>
          <a:ln w="11430">
            <a:solidFill>
              <a:srgbClr val="D8B9C2"/>
            </a:solidFill>
            <a:prstDash val="solid"/>
          </a:ln>
        </p:spPr>
        <p:txBody>
          <a:bodyPr spcFirstLastPara="1" wrap="square" lIns="171450" tIns="152400" rIns="171450" bIns="133350" anchor="t">
            <a:noAutofit/>
          </a:bodyPr>
          <a:lstStyle/>
          <a:p>
            <a:pPr algn="ctr">
              <a:spcAft>
                <a:spcPts val="16"/>
              </a:spcAft>
              <a:defRPr sz="15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b="1" noProof="1">
                <a:solidFill>
                  <a:srgbClr val="8C1531"/>
                </a:solidFill>
              </a:rPr>
              <a:t>VERSION-CONTROL BASELINE</a:t>
            </a:r>
          </a:p>
          <a:p>
            <a:pPr>
              <a:spcAft>
                <a:spcPts val="16"/>
              </a:spcAft>
              <a:defRPr sz="15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endParaRPr lang="en-US" b="1" noProof="1">
              <a:solidFill>
                <a:srgbClr val="8C1531"/>
              </a:solidFill>
            </a:endParaRPr>
          </a:p>
          <a:p>
            <a:pPr marL="285750" indent="-285750">
              <a:lnSpc>
                <a:spcPct val="150000"/>
              </a:lnSpc>
              <a:spcAft>
                <a:spcPts val="8"/>
              </a:spcAft>
              <a:buFont typeface="Arial" panose="020B0604020202020204" pitchFamily="34" charset="0"/>
              <a:buChar char="•"/>
              <a:defRPr sz="15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noProof="1"/>
              <a:t>Commit e616e59 · July 20, 2026;</a:t>
            </a:r>
          </a:p>
          <a:p>
            <a:pPr marL="285750" indent="-285750">
              <a:lnSpc>
                <a:spcPct val="150000"/>
              </a:lnSpc>
              <a:spcAft>
                <a:spcPts val="8"/>
              </a:spcAft>
              <a:buFont typeface="Arial" panose="020B0604020202020204" pitchFamily="34" charset="0"/>
              <a:buChar char="•"/>
              <a:defRPr sz="15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noProof="1"/>
              <a:t>25 Java types · 23 classes + 2 interfaces</a:t>
            </a:r>
          </a:p>
          <a:p>
            <a:pPr marL="285750" indent="-285750">
              <a:lnSpc>
                <a:spcPct val="150000"/>
              </a:lnSpc>
              <a:spcAft>
                <a:spcPts val="8"/>
              </a:spcAft>
              <a:buFont typeface="Arial" panose="020B0604020202020204" pitchFamily="34" charset="0"/>
              <a:buChar char="•"/>
              <a:defRPr sz="15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noProof="1"/>
              <a:t>1,929 Logical SLOC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5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noProof="1"/>
              <a:t>46 / 46 JUnit tests pass</a:t>
            </a:r>
          </a:p>
        </p:txBody>
      </p:sp>
      <p:sp>
        <p:nvSpPr>
          <p:cNvPr id="192" name="Google Shape;192;p13">
            <a:extLst>
              <a:ext uri="{FF2B5EF4-FFF2-40B4-BE49-F238E27FC236}">
                <a16:creationId xmlns:a16="http://schemas.microsoft.com/office/drawing/2014/main" id="{F7B55E16-3347-4350-BAEA-4DFEA237549C}"/>
              </a:ext>
            </a:extLst>
          </p:cNvPr>
          <p:cNvSpPr>
            <a:spLocks noGrp="1"/>
          </p:cNvSpPr>
          <p:nvPr/>
        </p:nvSpPr>
        <p:spPr>
          <a:xfrm>
            <a:off x="4733926" y="1720351"/>
            <a:ext cx="3857625" cy="2667000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 w="11430">
            <a:solidFill>
              <a:srgbClr val="D7D7D7"/>
            </a:solidFill>
            <a:prstDash val="solid"/>
          </a:ln>
        </p:spPr>
        <p:txBody>
          <a:bodyPr spcFirstLastPara="1" wrap="square" lIns="171450" tIns="152400" rIns="171450" bIns="133350" anchor="t">
            <a:noAutofit/>
          </a:bodyPr>
          <a:lstStyle/>
          <a:p>
            <a:pPr algn="ctr">
              <a:spcAft>
                <a:spcPts val="16"/>
              </a:spcAft>
              <a:defRPr sz="15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b="1" noProof="1">
                <a:solidFill>
                  <a:srgbClr val="8C1531"/>
                </a:solidFill>
              </a:rPr>
              <a:t>REPRODUCIBLE PIPELINE</a:t>
            </a:r>
          </a:p>
          <a:p>
            <a:pPr>
              <a:spcAft>
                <a:spcPts val="16"/>
              </a:spcAft>
              <a:defRPr sz="15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endParaRPr lang="en-US" b="1" noProof="1">
              <a:solidFill>
                <a:srgbClr val="8C1531"/>
              </a:solidFill>
            </a:endParaRPr>
          </a:p>
          <a:p>
            <a:pPr marL="285750" indent="-285750">
              <a:lnSpc>
                <a:spcPct val="150000"/>
              </a:lnSpc>
              <a:spcAft>
                <a:spcPts val="8"/>
              </a:spcAft>
              <a:buFont typeface="Arial" panose="020B0604020202020204" pitchFamily="34" charset="0"/>
              <a:buChar char="•"/>
              <a:defRPr sz="15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noProof="1"/>
              <a:t>UCC-J → LSLOC + method CC1</a:t>
            </a:r>
          </a:p>
          <a:p>
            <a:pPr marL="285750" indent="-285750">
              <a:lnSpc>
                <a:spcPct val="150000"/>
              </a:lnSpc>
              <a:spcAft>
                <a:spcPts val="8"/>
              </a:spcAft>
              <a:buFont typeface="Arial" panose="020B0604020202020204" pitchFamily="34" charset="0"/>
              <a:buChar char="•"/>
              <a:defRPr sz="15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noProof="1"/>
              <a:t>Compiler AST → WMC, CF, LCOM*</a:t>
            </a:r>
          </a:p>
          <a:p>
            <a:pPr marL="285750" indent="-285750">
              <a:lnSpc>
                <a:spcPct val="150000"/>
              </a:lnSpc>
              <a:spcAft>
                <a:spcPts val="8"/>
              </a:spcAft>
              <a:buFont typeface="Arial" panose="020B0604020202020204" pitchFamily="34" charset="0"/>
              <a:buChar char="•"/>
              <a:defRPr sz="15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noProof="1"/>
              <a:t>Merge → class-level CSV</a:t>
            </a:r>
          </a:p>
          <a:p>
            <a:pPr marL="285750" indent="-285750">
              <a:lnSpc>
                <a:spcPct val="150000"/>
              </a:lnSpc>
              <a:spcAft>
                <a:spcPts val="8"/>
              </a:spcAft>
              <a:buFont typeface="Arial" panose="020B0604020202020204" pitchFamily="34" charset="0"/>
              <a:buChar char="•"/>
              <a:defRPr sz="15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noProof="1"/>
              <a:t>Average ranks → Spearman ρ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5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noProof="1"/>
              <a:t>Scope: production code only; interfaces remain in the CF universe.</a:t>
            </a:r>
          </a:p>
        </p:txBody>
      </p:sp>
      <p:sp>
        <p:nvSpPr>
          <p:cNvPr id="193" name="Google Shape;193;p13">
            <a:extLst>
              <a:ext uri="{FF2B5EF4-FFF2-40B4-BE49-F238E27FC236}">
                <a16:creationId xmlns:a16="http://schemas.microsoft.com/office/drawing/2014/main" id="{B196DAC3-4DCD-468B-A79E-EC33226351D7}"/>
              </a:ext>
            </a:extLst>
          </p:cNvPr>
          <p:cNvSpPr>
            <a:spLocks noGrp="1"/>
          </p:cNvSpPr>
          <p:nvPr/>
        </p:nvSpPr>
        <p:spPr>
          <a:xfrm>
            <a:off x="552450" y="4594350"/>
            <a:ext cx="8039100" cy="739650"/>
          </a:xfrm>
          <a:prstGeom prst="roundRect">
            <a:avLst>
              <a:gd name="adj" fmla="val 0"/>
            </a:avLst>
          </a:prstGeom>
          <a:solidFill>
            <a:srgbClr val="FAF7F8"/>
          </a:solidFill>
          <a:ln w="11430">
            <a:solidFill>
              <a:srgbClr val="D8B9C2"/>
            </a:solidFill>
            <a:prstDash val="solid"/>
          </a:ln>
        </p:spPr>
        <p:txBody>
          <a:bodyPr spcFirstLastPara="1" wrap="square" lIns="171450" tIns="133350" rIns="171450" bIns="114300" anchor="t">
            <a:noAutofit/>
          </a:bodyPr>
          <a:lstStyle/>
          <a:p>
            <a:pPr>
              <a:lnSpc>
                <a:spcPct val="112000"/>
              </a:lnSpc>
              <a:spcAft>
                <a:spcPts val="12"/>
              </a:spcAft>
              <a:buNone/>
              <a:defRPr sz="13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350" b="1" noProof="1">
                <a:solidFill>
                  <a:srgbClr val="8C1531"/>
                </a:solidFill>
                <a:latin typeface="Arial"/>
                <a:ea typeface="Arial"/>
                <a:cs typeface="Arial"/>
              </a:rPr>
              <a:t>REPRODUCIBLE OUTPUTS</a:t>
            </a:r>
          </a:p>
          <a:p>
            <a:pPr>
              <a:lnSpc>
                <a:spcPct val="112000"/>
              </a:lnSpc>
              <a:buNone/>
              <a:defRPr sz="13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class_metrics.csv  ·  metrics_summary.json  ·  correlation_data.csv  ·  D3MetricsAnalyzer.java</a:t>
            </a:r>
          </a:p>
        </p:txBody>
      </p:sp>
      <p:sp>
        <p:nvSpPr>
          <p:cNvPr id="194" name="Google Shape;194;p13">
            <a:extLst>
              <a:ext uri="{FF2B5EF4-FFF2-40B4-BE49-F238E27FC236}">
                <a16:creationId xmlns:a16="http://schemas.microsoft.com/office/drawing/2014/main" id="{065F34BF-E11C-4F99-9D94-26DBD1F3C6D7}"/>
              </a:ext>
            </a:extLst>
          </p:cNvPr>
          <p:cNvSpPr>
            <a:spLocks noGrp="1"/>
          </p:cNvSpPr>
          <p:nvPr/>
        </p:nvSpPr>
        <p:spPr>
          <a:xfrm>
            <a:off x="552450" y="5514662"/>
            <a:ext cx="498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 noProof="1">
                <a:solidFill>
                  <a:srgbClr val="888888"/>
                </a:solidFill>
              </a:rPr>
              <a:t>Baseline: GitHub commit e616e59 (full URL in speaker notes).</a:t>
            </a:r>
          </a:p>
        </p:txBody>
      </p:sp>
      <p:sp>
        <p:nvSpPr>
          <p:cNvPr id="196" name="Google Shape;196;p13">
            <a:extLst>
              <a:ext uri="{FF2B5EF4-FFF2-40B4-BE49-F238E27FC236}">
                <a16:creationId xmlns:a16="http://schemas.microsoft.com/office/drawing/2014/main" id="{E0F8BB2D-DC04-45B0-8D99-CAF0499AFBFC}"/>
              </a:ext>
            </a:extLst>
          </p:cNvPr>
          <p:cNvSpPr>
            <a:spLocks noGrp="1"/>
          </p:cNvSpPr>
          <p:nvPr/>
        </p:nvSpPr>
        <p:spPr>
          <a:xfrm>
            <a:off x="552450" y="5927040"/>
            <a:ext cx="471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noProof="1">
                <a:solidFill>
                  <a:srgbClr val="555555"/>
                </a:solidFill>
              </a:rPr>
              <a:t>Source-driven calculations; no D2 metric snapshot reused.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8361B1-D0BC-CE83-7BEC-E17B639F81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dirty="0" smtClean="0"/>
              <a:t>2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53875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">
            <a:extLst>
              <a:ext uri="{FF2B5EF4-FFF2-40B4-BE49-F238E27FC236}">
                <a16:creationId xmlns:a16="http://schemas.microsoft.com/office/drawing/2014/main" id="{2400A4D5-4486-4812-88FE-F71CD2C5C3B6}"/>
              </a:ext>
            </a:extLst>
          </p:cNvPr>
          <p:cNvSpPr>
            <a:spLocks noGrp="1"/>
          </p:cNvSpPr>
          <p:nvPr/>
        </p:nvSpPr>
        <p:spPr>
          <a:xfrm>
            <a:off x="240635" y="987171"/>
            <a:ext cx="866268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1" noProof="1">
                <a:solidFill>
                  <a:srgbClr val="666666"/>
                </a:solidFill>
              </a:rPr>
              <a:t>Cyclomatic complexity counts independent control-flow paths. (Kamthan, 2026a)</a:t>
            </a:r>
          </a:p>
        </p:txBody>
      </p:sp>
      <p:sp>
        <p:nvSpPr>
          <p:cNvPr id="232" name="Google Shape;232;p17">
            <a:extLst>
              <a:ext uri="{FF2B5EF4-FFF2-40B4-BE49-F238E27FC236}">
                <a16:creationId xmlns:a16="http://schemas.microsoft.com/office/drawing/2014/main" id="{753E3577-FAAB-49D1-927F-D464FCC9E352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233" name="Google Shape;233;p17">
            <a:extLst>
              <a:ext uri="{FF2B5EF4-FFF2-40B4-BE49-F238E27FC236}">
                <a16:creationId xmlns:a16="http://schemas.microsoft.com/office/drawing/2014/main" id="{15511DD6-BA17-4FCE-86AA-751F576C0C67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100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Problem 7: Cyclomatic Complexity</a:t>
            </a:r>
          </a:p>
        </p:txBody>
      </p:sp>
      <p:sp>
        <p:nvSpPr>
          <p:cNvPr id="234" name="Google Shape;234;p17">
            <a:extLst>
              <a:ext uri="{FF2B5EF4-FFF2-40B4-BE49-F238E27FC236}">
                <a16:creationId xmlns:a16="http://schemas.microsoft.com/office/drawing/2014/main" id="{0B1C5E56-0155-4CD1-A767-CD0C218D2BDA}"/>
              </a:ext>
            </a:extLst>
          </p:cNvPr>
          <p:cNvSpPr>
            <a:spLocks noGrp="1"/>
          </p:cNvSpPr>
          <p:nvPr/>
        </p:nvSpPr>
        <p:spPr>
          <a:xfrm>
            <a:off x="508025" y="2751609"/>
            <a:ext cx="8127900" cy="8889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rgbClr val="555555"/>
                </a:solidFill>
              </a:rPr>
              <a:t>iBank: ΣV(G) = 474 | 239 methods | mean = 1.98</a:t>
            </a:r>
          </a:p>
        </p:txBody>
      </p:sp>
      <p:sp>
        <p:nvSpPr>
          <p:cNvPr id="235" name="Google Shape;235;p17">
            <a:extLst>
              <a:ext uri="{FF2B5EF4-FFF2-40B4-BE49-F238E27FC236}">
                <a16:creationId xmlns:a16="http://schemas.microsoft.com/office/drawing/2014/main" id="{44ED98F6-D1AC-4AB2-8C23-89BF7101954B}"/>
              </a:ext>
            </a:extLst>
          </p:cNvPr>
          <p:cNvSpPr>
            <a:spLocks noGrp="1"/>
          </p:cNvSpPr>
          <p:nvPr/>
        </p:nvSpPr>
        <p:spPr>
          <a:xfrm>
            <a:off x="508025" y="1786617"/>
            <a:ext cx="8127900" cy="888900"/>
          </a:xfrm>
          <a:prstGeom prst="roundRect">
            <a:avLst>
              <a:gd name="adj" fmla="val 0"/>
            </a:avLst>
          </a:prstGeom>
          <a:noFill/>
          <a:ln w="9525" cmpd="sng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noProof="1">
                <a:solidFill>
                  <a:srgbClr val="555555"/>
                </a:solidFill>
              </a:rPr>
              <a:t>V(G) = E - N + 2P  ≡  number of decisions + 1 (per method)</a:t>
            </a:r>
          </a:p>
        </p:txBody>
      </p:sp>
      <p:sp>
        <p:nvSpPr>
          <p:cNvPr id="236" name="Google Shape;236;p17">
            <a:extLst>
              <a:ext uri="{FF2B5EF4-FFF2-40B4-BE49-F238E27FC236}">
                <a16:creationId xmlns:a16="http://schemas.microsoft.com/office/drawing/2014/main" id="{033DB6B9-D92B-47FE-A38B-123476144381}"/>
              </a:ext>
            </a:extLst>
          </p:cNvPr>
          <p:cNvSpPr>
            <a:spLocks noGrp="1"/>
          </p:cNvSpPr>
          <p:nvPr/>
        </p:nvSpPr>
        <p:spPr>
          <a:xfrm>
            <a:off x="679992" y="1601217"/>
            <a:ext cx="1953900" cy="3708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rgbClr val="555555"/>
                </a:solidFill>
              </a:rPr>
              <a:t>DEFINITION</a:t>
            </a:r>
          </a:p>
        </p:txBody>
      </p:sp>
      <p:sp>
        <p:nvSpPr>
          <p:cNvPr id="237" name="Google Shape;237;p17">
            <a:extLst>
              <a:ext uri="{FF2B5EF4-FFF2-40B4-BE49-F238E27FC236}">
                <a16:creationId xmlns:a16="http://schemas.microsoft.com/office/drawing/2014/main" id="{35F3B0A2-FA03-406B-9138-4B9C8E94298C}"/>
              </a:ext>
            </a:extLst>
          </p:cNvPr>
          <p:cNvSpPr>
            <a:spLocks noGrp="1"/>
          </p:cNvSpPr>
          <p:nvPr/>
        </p:nvSpPr>
        <p:spPr>
          <a:xfrm>
            <a:off x="508025" y="3795444"/>
            <a:ext cx="3736597" cy="213159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noProof="1">
                <a:solidFill>
                  <a:srgbClr val="F1C40F"/>
                </a:solidFill>
              </a:rPr>
              <a:t>📏 Counting Scheme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b="1" noProof="1">
              <a:solidFill>
                <a:srgbClr val="F1C40F"/>
              </a:solidFill>
            </a:endParaRPr>
          </a:p>
          <a:p>
            <a:pPr marL="171450" lvl="0" indent="-1714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555555"/>
                </a:solidFill>
              </a:rPr>
              <a:t>UCC-J 2020.01 CC1 is used consistently for every Java method and constructor. </a:t>
            </a:r>
          </a:p>
          <a:p>
            <a:pPr marL="171450" lvl="0" indent="-1714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555555"/>
                </a:solidFill>
              </a:rPr>
              <a:t>File/class WMC is the unnormalized sum of method complexities. Project total is the sum over the 23 classes.</a:t>
            </a:r>
          </a:p>
        </p:txBody>
      </p:sp>
      <p:sp>
        <p:nvSpPr>
          <p:cNvPr id="238" name="Google Shape;238;p17">
            <a:extLst>
              <a:ext uri="{FF2B5EF4-FFF2-40B4-BE49-F238E27FC236}">
                <a16:creationId xmlns:a16="http://schemas.microsoft.com/office/drawing/2014/main" id="{C057174F-DD3B-41EA-891F-62D94348B221}"/>
              </a:ext>
            </a:extLst>
          </p:cNvPr>
          <p:cNvSpPr>
            <a:spLocks noGrp="1"/>
          </p:cNvSpPr>
          <p:nvPr/>
        </p:nvSpPr>
        <p:spPr>
          <a:xfrm>
            <a:off x="4899380" y="3795444"/>
            <a:ext cx="3803350" cy="201907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noProof="1">
                <a:solidFill>
                  <a:srgbClr val="E74C3C"/>
                </a:solidFill>
              </a:rPr>
              <a:t>🎯 Lecture Thresholds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b="1" noProof="1">
              <a:solidFill>
                <a:srgbClr val="E74C3C"/>
              </a:solidFill>
            </a:endParaRPr>
          </a:p>
          <a:p>
            <a:pPr marL="171450" marR="0" lvl="0" indent="-1714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555555"/>
                </a:solidFill>
              </a:rPr>
              <a:t>1-10: low; 11-20: moderate; 21-50: high; &gt;50: very high. </a:t>
            </a:r>
          </a:p>
          <a:p>
            <a:pPr marL="171450" marR="0" lvl="0" indent="-1714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555555"/>
                </a:solidFill>
              </a:rPr>
              <a:t>A value of 10 or more is cause for concern. These are method-level indicators, not a verdict on the whole product.</a:t>
            </a:r>
          </a:p>
        </p:txBody>
      </p:sp>
      <p:sp>
        <p:nvSpPr>
          <p:cNvPr id="239" name="Google Shape;239;p17">
            <a:extLst>
              <a:ext uri="{FF2B5EF4-FFF2-40B4-BE49-F238E27FC236}">
                <a16:creationId xmlns:a16="http://schemas.microsoft.com/office/drawing/2014/main" id="{A3E4FADE-708C-4FD9-90B3-571191AE0449}"/>
              </a:ext>
            </a:extLst>
          </p:cNvPr>
          <p:cNvSpPr>
            <a:spLocks noGrp="1"/>
          </p:cNvSpPr>
          <p:nvPr/>
        </p:nvSpPr>
        <p:spPr>
          <a:xfrm>
            <a:off x="4247580" y="4675841"/>
            <a:ext cx="387600" cy="370800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E6B8AF"/>
              </a:gs>
              <a:gs pos="100000">
                <a:srgbClr val="D9EAD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noProof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EB8BA6-997D-C408-499A-FA4CE2BBC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43371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>
            <a:extLst>
              <a:ext uri="{FF2B5EF4-FFF2-40B4-BE49-F238E27FC236}">
                <a16:creationId xmlns:a16="http://schemas.microsoft.com/office/drawing/2014/main" id="{B2C9CDCF-AB92-4DE2-9150-FFDF0475C073}"/>
              </a:ext>
            </a:extLst>
          </p:cNvPr>
          <p:cNvSpPr>
            <a:spLocks noGrp="1"/>
          </p:cNvSpPr>
          <p:nvPr/>
        </p:nvSpPr>
        <p:spPr>
          <a:xfrm>
            <a:off x="240660" y="982761"/>
            <a:ext cx="866268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1" noProof="1">
                <a:solidFill>
                  <a:srgbClr val="666666"/>
                </a:solidFill>
              </a:rPr>
              <a:t>Only onOk is moderate; overall, method complexity is not a major concern. (Kamthan, 2026a)</a:t>
            </a:r>
          </a:p>
        </p:txBody>
      </p:sp>
      <p:sp>
        <p:nvSpPr>
          <p:cNvPr id="202" name="Google Shape;202;p14">
            <a:extLst>
              <a:ext uri="{FF2B5EF4-FFF2-40B4-BE49-F238E27FC236}">
                <a16:creationId xmlns:a16="http://schemas.microsoft.com/office/drawing/2014/main" id="{0BE3D6CB-8ED0-4CC1-AA60-D3E1DC2457D5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203" name="Google Shape;203;p14">
            <a:extLst>
              <a:ext uri="{FF2B5EF4-FFF2-40B4-BE49-F238E27FC236}">
                <a16:creationId xmlns:a16="http://schemas.microsoft.com/office/drawing/2014/main" id="{62084C8D-76B2-485C-A722-2A6A4A788F55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Problem 7: Complexity Results</a:t>
            </a:r>
          </a:p>
        </p:txBody>
      </p:sp>
      <p:graphicFrame>
        <p:nvGraphicFramePr>
          <p:cNvPr id="218" name="Google Shape;204;p14"/>
          <p:cNvGraphicFramePr/>
          <p:nvPr>
            <p:extLst>
              <p:ext uri="{D42A27DB-BD31-4B8C-83A1-F6EECF244321}">
                <p14:modId xmlns:p14="http://schemas.microsoft.com/office/powerpoint/2010/main" val="1085899566"/>
              </p:ext>
            </p:extLst>
          </p:nvPr>
        </p:nvGraphicFramePr>
        <p:xfrm>
          <a:off x="620500" y="1786578"/>
          <a:ext cx="3173875" cy="4201825"/>
        </p:xfrm>
        <a:graphic>
          <a:graphicData uri="http://schemas.openxmlformats.org/drawingml/2006/table">
            <a:tbl>
              <a:tblPr>
                <a:tableStyleId>{EFFB486D-6BB2-47A7-A367-C6903840951B}</a:tableStyleId>
              </a:tblPr>
              <a:tblGrid>
                <a:gridCol w="212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000">
                <a:tc gridSpan="2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noProof="1">
                          <a:solidFill>
                            <a:srgbClr val="34495E"/>
                          </a:solidFill>
                        </a:rPr>
                        <a:t>📊 Cyclomatic Summary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6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Methods measured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239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6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Total V(G)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474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6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Mean / maximum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1.98 / 12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6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V(G) 1-9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236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7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noProof="1">
                          <a:solidFill>
                            <a:srgbClr val="555555"/>
                          </a:solidFill>
                        </a:rPr>
                        <a:t>V(G) = 10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2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7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noProof="1">
                          <a:solidFill>
                            <a:srgbClr val="555555"/>
                          </a:solidFill>
                        </a:rPr>
                        <a:t>V(G) = 12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1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7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noProof="1">
                          <a:solidFill>
                            <a:srgbClr val="555555"/>
                          </a:solidFill>
                        </a:rPr>
                        <a:t>V(G) &gt;20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0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6" name="Google Shape;206;p14">
            <a:extLst>
              <a:ext uri="{FF2B5EF4-FFF2-40B4-BE49-F238E27FC236}">
                <a16:creationId xmlns:a16="http://schemas.microsoft.com/office/drawing/2014/main" id="{E2843366-7E21-4391-A4EA-52B063CFAF51}"/>
              </a:ext>
            </a:extLst>
          </p:cNvPr>
          <p:cNvSpPr>
            <a:spLocks noGrp="1"/>
          </p:cNvSpPr>
          <p:nvPr/>
        </p:nvSpPr>
        <p:spPr>
          <a:xfrm>
            <a:off x="4125022" y="2650697"/>
            <a:ext cx="307200" cy="31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83A4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noProof="1"/>
          </a:p>
        </p:txBody>
      </p:sp>
      <p:sp>
        <p:nvSpPr>
          <p:cNvPr id="208" name="Google Shape;208;p14">
            <a:extLst>
              <a:ext uri="{FF2B5EF4-FFF2-40B4-BE49-F238E27FC236}">
                <a16:creationId xmlns:a16="http://schemas.microsoft.com/office/drawing/2014/main" id="{B2E6D2B5-9A58-4D30-AFC8-0A8B51DFE1F6}"/>
              </a:ext>
            </a:extLst>
          </p:cNvPr>
          <p:cNvSpPr>
            <a:spLocks noGrp="1"/>
          </p:cNvSpPr>
          <p:nvPr/>
        </p:nvSpPr>
        <p:spPr>
          <a:xfrm>
            <a:off x="4125022" y="4845640"/>
            <a:ext cx="307200" cy="31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83A4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noProof="1"/>
          </a:p>
        </p:txBody>
      </p:sp>
      <p:sp>
        <p:nvSpPr>
          <p:cNvPr id="209" name="Google Shape;209;p14">
            <a:extLst>
              <a:ext uri="{FF2B5EF4-FFF2-40B4-BE49-F238E27FC236}">
                <a16:creationId xmlns:a16="http://schemas.microsoft.com/office/drawing/2014/main" id="{39A7EF1D-E765-4182-8194-1D0ECF40BB71}"/>
              </a:ext>
            </a:extLst>
          </p:cNvPr>
          <p:cNvSpPr>
            <a:spLocks noGrp="1"/>
          </p:cNvSpPr>
          <p:nvPr/>
        </p:nvSpPr>
        <p:spPr>
          <a:xfrm>
            <a:off x="3890475" y="3118900"/>
            <a:ext cx="693600" cy="6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000" i="1" noProof="1">
                <a:solidFill>
                  <a:srgbClr val="666666"/>
                </a:solidFill>
              </a:rPr>
              <a:t>Method-level evidence</a:t>
            </a:r>
          </a:p>
        </p:txBody>
      </p:sp>
      <p:pic>
        <p:nvPicPr>
          <p:cNvPr id="222" name="Picture 2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11780" y="1786578"/>
            <a:ext cx="4000499" cy="2040500"/>
          </a:xfrm>
          <a:prstGeom prst="rect">
            <a:avLst/>
          </a:prstGeom>
        </p:spPr>
      </p:pic>
      <p:pic>
        <p:nvPicPr>
          <p:cNvPr id="223" name="Picture 2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635147" y="4175096"/>
            <a:ext cx="4000499" cy="165848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FAAE40-927B-5FD7-FB5C-4094DBAE60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4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701700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">
            <a:extLst>
              <a:ext uri="{FF2B5EF4-FFF2-40B4-BE49-F238E27FC236}">
                <a16:creationId xmlns:a16="http://schemas.microsoft.com/office/drawing/2014/main" id="{2400A4D5-4486-4812-88FE-F71CD2C5C3B6}"/>
              </a:ext>
            </a:extLst>
          </p:cNvPr>
          <p:cNvSpPr>
            <a:spLocks noGrp="1"/>
          </p:cNvSpPr>
          <p:nvPr/>
        </p:nvSpPr>
        <p:spPr>
          <a:xfrm>
            <a:off x="240635" y="1000815"/>
            <a:ext cx="866268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1" noProof="1">
                <a:solidFill>
                  <a:srgbClr val="666666"/>
                </a:solidFill>
              </a:rPr>
              <a:t>The only moderate method combines four UI states and three transaction paths. (Kamthan, 2026a)</a:t>
            </a:r>
          </a:p>
        </p:txBody>
      </p:sp>
      <p:sp>
        <p:nvSpPr>
          <p:cNvPr id="232" name="Google Shape;232;p17">
            <a:extLst>
              <a:ext uri="{FF2B5EF4-FFF2-40B4-BE49-F238E27FC236}">
                <a16:creationId xmlns:a16="http://schemas.microsoft.com/office/drawing/2014/main" id="{753E3577-FAAB-49D1-927F-D464FCC9E352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233" name="Google Shape;233;p17">
            <a:extLst>
              <a:ext uri="{FF2B5EF4-FFF2-40B4-BE49-F238E27FC236}">
                <a16:creationId xmlns:a16="http://schemas.microsoft.com/office/drawing/2014/main" id="{15511DD6-BA17-4FCE-86AA-751F576C0C67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100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Problem 7: Qualitative Conclusion</a:t>
            </a:r>
          </a:p>
        </p:txBody>
      </p:sp>
      <p:sp>
        <p:nvSpPr>
          <p:cNvPr id="234" name="Google Shape;234;p17">
            <a:extLst>
              <a:ext uri="{FF2B5EF4-FFF2-40B4-BE49-F238E27FC236}">
                <a16:creationId xmlns:a16="http://schemas.microsoft.com/office/drawing/2014/main" id="{0B1C5E56-0155-4CD1-A767-CD0C218D2BDA}"/>
              </a:ext>
            </a:extLst>
          </p:cNvPr>
          <p:cNvSpPr>
            <a:spLocks noGrp="1"/>
          </p:cNvSpPr>
          <p:nvPr/>
        </p:nvSpPr>
        <p:spPr>
          <a:xfrm>
            <a:off x="508025" y="2858107"/>
            <a:ext cx="8127900" cy="79976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rgbClr val="555555"/>
                </a:solidFill>
              </a:rPr>
              <a:t>2 methods = 10 | 1 method = 12 | 0 methods above 20</a:t>
            </a:r>
          </a:p>
        </p:txBody>
      </p:sp>
      <p:sp>
        <p:nvSpPr>
          <p:cNvPr id="235" name="Google Shape;235;p17">
            <a:extLst>
              <a:ext uri="{FF2B5EF4-FFF2-40B4-BE49-F238E27FC236}">
                <a16:creationId xmlns:a16="http://schemas.microsoft.com/office/drawing/2014/main" id="{44ED98F6-D1AC-4AB2-8C23-89BF7101954B}"/>
              </a:ext>
            </a:extLst>
          </p:cNvPr>
          <p:cNvSpPr>
            <a:spLocks noGrp="1"/>
          </p:cNvSpPr>
          <p:nvPr/>
        </p:nvSpPr>
        <p:spPr>
          <a:xfrm>
            <a:off x="508025" y="1853891"/>
            <a:ext cx="8127900" cy="888900"/>
          </a:xfrm>
          <a:prstGeom prst="roundRect">
            <a:avLst>
              <a:gd name="adj" fmla="val 0"/>
            </a:avLst>
          </a:prstGeom>
          <a:noFill/>
          <a:ln w="9525" cmpd="sng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noProof="1">
                <a:solidFill>
                  <a:srgbClr val="555555"/>
                </a:solidFill>
              </a:rPr>
              <a:t>ClientDashboardPanel.onOk = 12; every other method ≤ 10</a:t>
            </a:r>
          </a:p>
        </p:txBody>
      </p:sp>
      <p:sp>
        <p:nvSpPr>
          <p:cNvPr id="236" name="Google Shape;236;p17">
            <a:extLst>
              <a:ext uri="{FF2B5EF4-FFF2-40B4-BE49-F238E27FC236}">
                <a16:creationId xmlns:a16="http://schemas.microsoft.com/office/drawing/2014/main" id="{033DB6B9-D92B-47FE-A38B-123476144381}"/>
              </a:ext>
            </a:extLst>
          </p:cNvPr>
          <p:cNvSpPr>
            <a:spLocks noGrp="1"/>
          </p:cNvSpPr>
          <p:nvPr/>
        </p:nvSpPr>
        <p:spPr>
          <a:xfrm>
            <a:off x="750833" y="1668491"/>
            <a:ext cx="1953900" cy="3708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rgbClr val="555555"/>
                </a:solidFill>
              </a:rPr>
              <a:t>RESULT</a:t>
            </a:r>
          </a:p>
        </p:txBody>
      </p:sp>
      <p:sp>
        <p:nvSpPr>
          <p:cNvPr id="237" name="Google Shape;237;p17">
            <a:extLst>
              <a:ext uri="{FF2B5EF4-FFF2-40B4-BE49-F238E27FC236}">
                <a16:creationId xmlns:a16="http://schemas.microsoft.com/office/drawing/2014/main" id="{35F3B0A2-FA03-406B-9138-4B9C8E94298C}"/>
              </a:ext>
            </a:extLst>
          </p:cNvPr>
          <p:cNvSpPr>
            <a:spLocks noGrp="1"/>
          </p:cNvSpPr>
          <p:nvPr/>
        </p:nvSpPr>
        <p:spPr>
          <a:xfrm>
            <a:off x="508025" y="3888500"/>
            <a:ext cx="3657575" cy="24924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noProof="1">
                <a:solidFill>
                  <a:srgbClr val="F1C40F"/>
                </a:solidFill>
              </a:rPr>
              <a:t>✅ Project-Specific Conclusion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b="1" noProof="1">
              <a:solidFill>
                <a:srgbClr val="F1C40F"/>
              </a:solidFill>
            </a:endParaRPr>
          </a:p>
          <a:p>
            <a:pPr marL="171450" lvl="0" indent="-1714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555555"/>
                </a:solidFill>
              </a:rPr>
              <a:t>The mean of 1.98 and absence of high or very-high methods indicate generally simple control flow. </a:t>
            </a:r>
          </a:p>
          <a:p>
            <a:pPr marL="171450" lvl="0" indent="-1714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555555"/>
                </a:solidFill>
              </a:rPr>
              <a:t>The total 474 is not one complex unit: it is the sum of 239 method-level CC1 values.</a:t>
            </a:r>
          </a:p>
        </p:txBody>
      </p:sp>
      <p:sp>
        <p:nvSpPr>
          <p:cNvPr id="238" name="Google Shape;238;p17">
            <a:extLst>
              <a:ext uri="{FF2B5EF4-FFF2-40B4-BE49-F238E27FC236}">
                <a16:creationId xmlns:a16="http://schemas.microsoft.com/office/drawing/2014/main" id="{C057174F-DD3B-41EA-891F-62D94348B221}"/>
              </a:ext>
            </a:extLst>
          </p:cNvPr>
          <p:cNvSpPr>
            <a:spLocks noGrp="1"/>
          </p:cNvSpPr>
          <p:nvPr/>
        </p:nvSpPr>
        <p:spPr>
          <a:xfrm>
            <a:off x="4876800" y="3888500"/>
            <a:ext cx="3759119" cy="23151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noProof="1">
                <a:solidFill>
                  <a:srgbClr val="E74C3C"/>
                </a:solidFill>
              </a:rPr>
              <a:t>🔧 Why onOk Is High and What to Do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600" b="1" noProof="1">
              <a:solidFill>
                <a:srgbClr val="E74C3C"/>
              </a:solidFill>
            </a:endParaRPr>
          </a:p>
          <a:p>
            <a:pPr marL="171450" marR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555555"/>
                </a:solidFill>
              </a:rPr>
              <a:t>onOk switches among acc_select, dest_select, amount, and confirm; then dispatches withdraw, deposit, or transfer and handles two exceptions.</a:t>
            </a:r>
          </a:p>
          <a:p>
            <a:pPr marL="171450" marR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555555"/>
                </a:solidFill>
              </a:rPr>
              <a:t>Extract one handler per state; separately review the two CC1 = 10 methods.</a:t>
            </a:r>
          </a:p>
        </p:txBody>
      </p:sp>
      <p:sp>
        <p:nvSpPr>
          <p:cNvPr id="239" name="Google Shape;239;p17">
            <a:extLst>
              <a:ext uri="{FF2B5EF4-FFF2-40B4-BE49-F238E27FC236}">
                <a16:creationId xmlns:a16="http://schemas.microsoft.com/office/drawing/2014/main" id="{A3E4FADE-708C-4FD9-90B3-571191AE0449}"/>
              </a:ext>
            </a:extLst>
          </p:cNvPr>
          <p:cNvSpPr>
            <a:spLocks noGrp="1"/>
          </p:cNvSpPr>
          <p:nvPr/>
        </p:nvSpPr>
        <p:spPr>
          <a:xfrm>
            <a:off x="4247580" y="4860650"/>
            <a:ext cx="387600" cy="370800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E6B8AF"/>
              </a:gs>
              <a:gs pos="100000">
                <a:srgbClr val="D9EAD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noProof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9B1B4C-B858-76A2-4F48-5740491D92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5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43371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>
            <a:extLst>
              <a:ext uri="{FF2B5EF4-FFF2-40B4-BE49-F238E27FC236}">
                <a16:creationId xmlns:a16="http://schemas.microsoft.com/office/drawing/2014/main" id="{FA95B45E-007E-4B6D-BB7B-5EFB41CC394F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215" name="Google Shape;215;p15">
            <a:extLst>
              <a:ext uri="{FF2B5EF4-FFF2-40B4-BE49-F238E27FC236}">
                <a16:creationId xmlns:a16="http://schemas.microsoft.com/office/drawing/2014/main" id="{903B6505-9C2C-45B5-B77A-1B11E7DD4324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P7 Method CC Rolls Up into P8 Class WMC</a:t>
            </a:r>
          </a:p>
        </p:txBody>
      </p:sp>
      <p:sp>
        <p:nvSpPr>
          <p:cNvPr id="216" name="Google Shape;216;p15">
            <a:extLst>
              <a:ext uri="{FF2B5EF4-FFF2-40B4-BE49-F238E27FC236}">
                <a16:creationId xmlns:a16="http://schemas.microsoft.com/office/drawing/2014/main" id="{9AFE6FA4-2C0C-4EC1-89D5-61664FB57998}"/>
              </a:ext>
            </a:extLst>
          </p:cNvPr>
          <p:cNvSpPr>
            <a:spLocks noGrp="1"/>
          </p:cNvSpPr>
          <p:nvPr/>
        </p:nvSpPr>
        <p:spPr>
          <a:xfrm>
            <a:off x="303840" y="930960"/>
            <a:ext cx="866268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1" noProof="1">
                <a:solidFill>
                  <a:srgbClr val="666666"/>
                </a:solidFill>
              </a:rPr>
              <a:t>Unnormalized WMC uses each method’s CC1 as its weight. (Kamthan, 2026e)</a:t>
            </a:r>
          </a:p>
        </p:txBody>
      </p:sp>
      <p:sp>
        <p:nvSpPr>
          <p:cNvPr id="217" name="Google Shape;217;p15">
            <a:extLst>
              <a:ext uri="{FF2B5EF4-FFF2-40B4-BE49-F238E27FC236}">
                <a16:creationId xmlns:a16="http://schemas.microsoft.com/office/drawing/2014/main" id="{4B401E43-1BA0-43C0-9362-B026526ECDDD}"/>
              </a:ext>
            </a:extLst>
          </p:cNvPr>
          <p:cNvSpPr>
            <a:spLocks noGrp="1"/>
          </p:cNvSpPr>
          <p:nvPr/>
        </p:nvSpPr>
        <p:spPr>
          <a:xfrm>
            <a:off x="303840" y="1690465"/>
            <a:ext cx="866268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 noProof="1">
                <a:solidFill>
                  <a:srgbClr val="555555"/>
                </a:solidFill>
              </a:rPr>
              <a:t>The same UCC-J method results support both problems: P7 reports CC1 per method; P8 groups those methods by class and sums their CC1 values. Therefore ΣWMC = Σmethod CC1 = 474.</a:t>
            </a:r>
          </a:p>
        </p:txBody>
      </p:sp>
      <p:graphicFrame>
        <p:nvGraphicFramePr>
          <p:cNvPr id="223" name="Google Shape;218;p15"/>
          <p:cNvGraphicFramePr/>
          <p:nvPr>
            <p:extLst>
              <p:ext uri="{D42A27DB-BD31-4B8C-83A1-F6EECF244321}">
                <p14:modId xmlns:p14="http://schemas.microsoft.com/office/powerpoint/2010/main" val="2417235656"/>
              </p:ext>
            </p:extLst>
          </p:nvPr>
        </p:nvGraphicFramePr>
        <p:xfrm>
          <a:off x="346110" y="2848304"/>
          <a:ext cx="8578140" cy="2581652"/>
        </p:xfrm>
        <a:graphic>
          <a:graphicData uri="http://schemas.openxmlformats.org/drawingml/2006/table">
            <a:tbl>
              <a:tblPr>
                <a:tableStyleId>{EFFB486D-6BB2-47A7-A367-C6903840951B}</a:tableStyleId>
              </a:tblPr>
              <a:tblGrid>
                <a:gridCol w="1904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5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57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noProof="1"/>
                        <a:t>Measure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19050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noProof="1"/>
                        <a:t>Level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19050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noProof="1"/>
                        <a:t>Computation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19050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noProof="1"/>
                        <a:t>Concrete example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188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noProof="1"/>
                        <a:t>CC1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Method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decisions + 1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Account.withdraw = 2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022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noProof="1"/>
                        <a:t>WMC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Class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Σ CC1(method)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ClientDashboardPanel: 23 methods → 99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311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noProof="1"/>
                        <a:t>CF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Project / type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71 / (25² - 25)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System CF = 0.1183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noProof="1"/>
                        <a:t>LCOM*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19050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Class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19050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field-use cohesion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19050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8 classes ≥ 0.80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19050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3ACCCE-E867-48BE-3CFC-088DB6D29A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6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823491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>
            <a:extLst>
              <a:ext uri="{FF2B5EF4-FFF2-40B4-BE49-F238E27FC236}">
                <a16:creationId xmlns:a16="http://schemas.microsoft.com/office/drawing/2014/main" id="{B2C9CDCF-AB92-4DE2-9150-FFDF0475C073}"/>
              </a:ext>
            </a:extLst>
          </p:cNvPr>
          <p:cNvSpPr>
            <a:spLocks noGrp="1"/>
          </p:cNvSpPr>
          <p:nvPr/>
        </p:nvSpPr>
        <p:spPr>
          <a:xfrm>
            <a:off x="252735" y="1001184"/>
            <a:ext cx="866268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1" noProof="1">
                <a:solidFill>
                  <a:srgbClr val="666666"/>
                </a:solidFill>
              </a:rPr>
              <a:t>ClientDashboardPanel’s 23 method weights sum to 99; no class exceeds 100. (Kamthan, 2026e)</a:t>
            </a:r>
          </a:p>
        </p:txBody>
      </p:sp>
      <p:sp>
        <p:nvSpPr>
          <p:cNvPr id="202" name="Google Shape;202;p14">
            <a:extLst>
              <a:ext uri="{FF2B5EF4-FFF2-40B4-BE49-F238E27FC236}">
                <a16:creationId xmlns:a16="http://schemas.microsoft.com/office/drawing/2014/main" id="{0BE3D6CB-8ED0-4CC1-AA60-D3E1DC2457D5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203" name="Google Shape;203;p14">
            <a:extLst>
              <a:ext uri="{FF2B5EF4-FFF2-40B4-BE49-F238E27FC236}">
                <a16:creationId xmlns:a16="http://schemas.microsoft.com/office/drawing/2014/main" id="{62084C8D-76B2-485C-A722-2A6A4A788F55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Problem 8: WMC Results</a:t>
            </a:r>
          </a:p>
        </p:txBody>
      </p:sp>
      <p:graphicFrame>
        <p:nvGraphicFramePr>
          <p:cNvPr id="218" name="Google Shape;204;p14"/>
          <p:cNvGraphicFramePr/>
          <p:nvPr>
            <p:extLst>
              <p:ext uri="{D42A27DB-BD31-4B8C-83A1-F6EECF244321}">
                <p14:modId xmlns:p14="http://schemas.microsoft.com/office/powerpoint/2010/main" val="908175211"/>
              </p:ext>
            </p:extLst>
          </p:nvPr>
        </p:nvGraphicFramePr>
        <p:xfrm>
          <a:off x="577280" y="1819259"/>
          <a:ext cx="3173875" cy="4477346"/>
        </p:xfrm>
        <a:graphic>
          <a:graphicData uri="http://schemas.openxmlformats.org/drawingml/2006/table">
            <a:tbl>
              <a:tblPr>
                <a:tableStyleId>{EFFB486D-6BB2-47A7-A367-C6903840951B}</a:tableStyleId>
              </a:tblPr>
              <a:tblGrid>
                <a:gridCol w="212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537">
                <a:tc gridSpan="2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noProof="1">
                          <a:solidFill>
                            <a:srgbClr val="34495E"/>
                          </a:solidFill>
                        </a:rPr>
                        <a:t>📊 WMC Summary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831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Classes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23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831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Total WMC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474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831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Mean per class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20.61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831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WMC &gt;100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0 classes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586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noProof="1">
                          <a:solidFill>
                            <a:srgbClr val="555555"/>
                          </a:solidFill>
                        </a:rPr>
                        <a:t>Hotspot calculation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23 methods → ΣCC1 = 99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0838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noProof="1">
                          <a:solidFill>
                            <a:srgbClr val="555555"/>
                          </a:solidFill>
                        </a:rPr>
                        <a:t>Second highest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AdminDashboard 54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15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noProof="1">
                          <a:solidFill>
                            <a:srgbClr val="555555"/>
                          </a:solidFill>
                        </a:rPr>
                        <a:t>Interpretation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99 is near the lecture limit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6" name="Google Shape;206;p14">
            <a:extLst>
              <a:ext uri="{FF2B5EF4-FFF2-40B4-BE49-F238E27FC236}">
                <a16:creationId xmlns:a16="http://schemas.microsoft.com/office/drawing/2014/main" id="{E2843366-7E21-4391-A4EA-52B063CFAF51}"/>
              </a:ext>
            </a:extLst>
          </p:cNvPr>
          <p:cNvSpPr>
            <a:spLocks noGrp="1"/>
          </p:cNvSpPr>
          <p:nvPr/>
        </p:nvSpPr>
        <p:spPr>
          <a:xfrm>
            <a:off x="4125155" y="2607150"/>
            <a:ext cx="307200" cy="31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83A4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noProof="1"/>
          </a:p>
        </p:txBody>
      </p:sp>
      <p:sp>
        <p:nvSpPr>
          <p:cNvPr id="208" name="Google Shape;208;p14">
            <a:extLst>
              <a:ext uri="{FF2B5EF4-FFF2-40B4-BE49-F238E27FC236}">
                <a16:creationId xmlns:a16="http://schemas.microsoft.com/office/drawing/2014/main" id="{B2E6D2B5-9A58-4D30-AFC8-0A8B51DFE1F6}"/>
              </a:ext>
            </a:extLst>
          </p:cNvPr>
          <p:cNvSpPr>
            <a:spLocks noGrp="1"/>
          </p:cNvSpPr>
          <p:nvPr/>
        </p:nvSpPr>
        <p:spPr>
          <a:xfrm>
            <a:off x="4125022" y="4914122"/>
            <a:ext cx="307333" cy="31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83A4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noProof="1"/>
          </a:p>
        </p:txBody>
      </p:sp>
      <p:sp>
        <p:nvSpPr>
          <p:cNvPr id="209" name="Google Shape;209;p14">
            <a:extLst>
              <a:ext uri="{FF2B5EF4-FFF2-40B4-BE49-F238E27FC236}">
                <a16:creationId xmlns:a16="http://schemas.microsoft.com/office/drawing/2014/main" id="{39A7EF1D-E765-4182-8194-1D0ECF40BB71}"/>
              </a:ext>
            </a:extLst>
          </p:cNvPr>
          <p:cNvSpPr>
            <a:spLocks noGrp="1"/>
          </p:cNvSpPr>
          <p:nvPr/>
        </p:nvSpPr>
        <p:spPr>
          <a:xfrm>
            <a:off x="3890475" y="3118900"/>
            <a:ext cx="693600" cy="6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000" i="1" noProof="1">
                <a:solidFill>
                  <a:srgbClr val="666666"/>
                </a:solidFill>
              </a:rPr>
              <a:t>Class-level evidence</a:t>
            </a:r>
          </a:p>
        </p:txBody>
      </p:sp>
      <p:pic>
        <p:nvPicPr>
          <p:cNvPr id="222" name="Picture 2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5732" y="1819259"/>
            <a:ext cx="4000500" cy="2040500"/>
          </a:xfrm>
          <a:prstGeom prst="rect">
            <a:avLst/>
          </a:prstGeom>
        </p:spPr>
      </p:pic>
      <p:pic>
        <p:nvPicPr>
          <p:cNvPr id="223" name="Picture 2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710994" y="4254867"/>
            <a:ext cx="4109977" cy="160194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08095F-59E1-DC11-B79C-4C5A0A0E28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7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701700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>
            <a:extLst>
              <a:ext uri="{FF2B5EF4-FFF2-40B4-BE49-F238E27FC236}">
                <a16:creationId xmlns:a16="http://schemas.microsoft.com/office/drawing/2014/main" id="{B2C9CDCF-AB92-4DE2-9150-FFDF0475C073}"/>
              </a:ext>
            </a:extLst>
          </p:cNvPr>
          <p:cNvSpPr>
            <a:spLocks noGrp="1"/>
          </p:cNvSpPr>
          <p:nvPr/>
        </p:nvSpPr>
        <p:spPr>
          <a:xfrm>
            <a:off x="252735" y="976888"/>
            <a:ext cx="866268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1" noProof="1">
                <a:solidFill>
                  <a:srgbClr val="666666"/>
                </a:solidFill>
              </a:rPr>
              <a:t>71 of 600 possible directed dependencies give system CF = 0.1183. (Kamthan, 2026e)</a:t>
            </a:r>
          </a:p>
        </p:txBody>
      </p:sp>
      <p:sp>
        <p:nvSpPr>
          <p:cNvPr id="202" name="Google Shape;202;p14">
            <a:extLst>
              <a:ext uri="{FF2B5EF4-FFF2-40B4-BE49-F238E27FC236}">
                <a16:creationId xmlns:a16="http://schemas.microsoft.com/office/drawing/2014/main" id="{0BE3D6CB-8ED0-4CC1-AA60-D3E1DC2457D5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203" name="Google Shape;203;p14">
            <a:extLst>
              <a:ext uri="{FF2B5EF4-FFF2-40B4-BE49-F238E27FC236}">
                <a16:creationId xmlns:a16="http://schemas.microsoft.com/office/drawing/2014/main" id="{62084C8D-76B2-485C-A722-2A6A4A788F55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Problem 8: Coupling Factor</a:t>
            </a:r>
          </a:p>
        </p:txBody>
      </p:sp>
      <p:graphicFrame>
        <p:nvGraphicFramePr>
          <p:cNvPr id="218" name="Google Shape;204;p14"/>
          <p:cNvGraphicFramePr/>
          <p:nvPr>
            <p:extLst>
              <p:ext uri="{D42A27DB-BD31-4B8C-83A1-F6EECF244321}">
                <p14:modId xmlns:p14="http://schemas.microsoft.com/office/powerpoint/2010/main" val="4088530098"/>
              </p:ext>
            </p:extLst>
          </p:nvPr>
        </p:nvGraphicFramePr>
        <p:xfrm>
          <a:off x="620500" y="1745600"/>
          <a:ext cx="3173875" cy="4321295"/>
        </p:xfrm>
        <a:graphic>
          <a:graphicData uri="http://schemas.openxmlformats.org/drawingml/2006/table">
            <a:tbl>
              <a:tblPr>
                <a:tableStyleId>{EFFB486D-6BB2-47A7-A367-C6903840951B}</a:tableStyleId>
              </a:tblPr>
              <a:tblGrid>
                <a:gridCol w="212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000">
                <a:tc gridSpan="2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noProof="1">
                          <a:solidFill>
                            <a:srgbClr val="34495E"/>
                          </a:solidFill>
                        </a:rPr>
                        <a:t>🔗 CF Summary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6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Type universe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25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6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Possible directed pairs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600 = 25 × 24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6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Observed couplings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71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6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System calculation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71 ÷ 600 = .1183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7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noProof="1">
                          <a:solidFill>
                            <a:srgbClr val="555555"/>
                          </a:solidFill>
                        </a:rPr>
                        <a:t>Highest contribution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ClientDashboard .4167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7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noProof="1">
                          <a:solidFill>
                            <a:srgbClr val="555555"/>
                          </a:solidFill>
                        </a:rPr>
                        <a:t>Interpretation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Low overall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7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noProof="1">
                          <a:solidFill>
                            <a:srgbClr val="555555"/>
                          </a:solidFill>
                        </a:rPr>
                        <a:t>Action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Extract UI flow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6" name="Google Shape;206;p14">
            <a:extLst>
              <a:ext uri="{FF2B5EF4-FFF2-40B4-BE49-F238E27FC236}">
                <a16:creationId xmlns:a16="http://schemas.microsoft.com/office/drawing/2014/main" id="{E2843366-7E21-4391-A4EA-52B063CFAF51}"/>
              </a:ext>
            </a:extLst>
          </p:cNvPr>
          <p:cNvSpPr>
            <a:spLocks noGrp="1"/>
          </p:cNvSpPr>
          <p:nvPr/>
        </p:nvSpPr>
        <p:spPr>
          <a:xfrm>
            <a:off x="4113865" y="2610072"/>
            <a:ext cx="307200" cy="31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83A4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noProof="1"/>
          </a:p>
        </p:txBody>
      </p:sp>
      <p:sp>
        <p:nvSpPr>
          <p:cNvPr id="208" name="Google Shape;208;p14">
            <a:extLst>
              <a:ext uri="{FF2B5EF4-FFF2-40B4-BE49-F238E27FC236}">
                <a16:creationId xmlns:a16="http://schemas.microsoft.com/office/drawing/2014/main" id="{B2E6D2B5-9A58-4D30-AFC8-0A8B51DFE1F6}"/>
              </a:ext>
            </a:extLst>
          </p:cNvPr>
          <p:cNvSpPr>
            <a:spLocks noGrp="1"/>
          </p:cNvSpPr>
          <p:nvPr/>
        </p:nvSpPr>
        <p:spPr>
          <a:xfrm>
            <a:off x="4113865" y="4853856"/>
            <a:ext cx="307200" cy="31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83A4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noProof="1"/>
          </a:p>
        </p:txBody>
      </p:sp>
      <p:sp>
        <p:nvSpPr>
          <p:cNvPr id="209" name="Google Shape;209;p14">
            <a:extLst>
              <a:ext uri="{FF2B5EF4-FFF2-40B4-BE49-F238E27FC236}">
                <a16:creationId xmlns:a16="http://schemas.microsoft.com/office/drawing/2014/main" id="{39A7EF1D-E765-4182-8194-1D0ECF40BB71}"/>
              </a:ext>
            </a:extLst>
          </p:cNvPr>
          <p:cNvSpPr>
            <a:spLocks noGrp="1"/>
          </p:cNvSpPr>
          <p:nvPr/>
        </p:nvSpPr>
        <p:spPr>
          <a:xfrm>
            <a:off x="3890475" y="3118900"/>
            <a:ext cx="693600" cy="6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000" i="1" noProof="1">
                <a:solidFill>
                  <a:srgbClr val="666666"/>
                </a:solidFill>
              </a:rPr>
              <a:t>Directed dependencies</a:t>
            </a:r>
          </a:p>
        </p:txBody>
      </p:sp>
      <p:pic>
        <p:nvPicPr>
          <p:cNvPr id="222" name="Picture 2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11780" y="1745598"/>
            <a:ext cx="4000499" cy="2040500"/>
          </a:xfrm>
          <a:prstGeom prst="rect">
            <a:avLst/>
          </a:prstGeom>
        </p:spPr>
      </p:pic>
      <p:pic>
        <p:nvPicPr>
          <p:cNvPr id="223" name="Picture 2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711780" y="4144000"/>
            <a:ext cx="4000500" cy="173711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6A4D70-7C32-F0CB-A7B2-9DDFF8A031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8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701700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>
            <a:extLst>
              <a:ext uri="{FF2B5EF4-FFF2-40B4-BE49-F238E27FC236}">
                <a16:creationId xmlns:a16="http://schemas.microsoft.com/office/drawing/2014/main" id="{B2C9CDCF-AB92-4DE2-9150-FFDF0475C073}"/>
              </a:ext>
            </a:extLst>
          </p:cNvPr>
          <p:cNvSpPr>
            <a:spLocks noGrp="1"/>
          </p:cNvSpPr>
          <p:nvPr/>
        </p:nvSpPr>
        <p:spPr>
          <a:xfrm>
            <a:off x="240660" y="999109"/>
            <a:ext cx="866268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1" noProof="1">
                <a:solidFill>
                  <a:srgbClr val="666666"/>
                </a:solidFill>
              </a:rPr>
              <a:t>Eight classes reach the lecture concern level; several are UI/state containers. (Kamthan, 2026e)</a:t>
            </a:r>
          </a:p>
        </p:txBody>
      </p:sp>
      <p:sp>
        <p:nvSpPr>
          <p:cNvPr id="202" name="Google Shape;202;p14">
            <a:extLst>
              <a:ext uri="{FF2B5EF4-FFF2-40B4-BE49-F238E27FC236}">
                <a16:creationId xmlns:a16="http://schemas.microsoft.com/office/drawing/2014/main" id="{0BE3D6CB-8ED0-4CC1-AA60-D3E1DC2457D5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203" name="Google Shape;203;p14">
            <a:extLst>
              <a:ext uri="{FF2B5EF4-FFF2-40B4-BE49-F238E27FC236}">
                <a16:creationId xmlns:a16="http://schemas.microsoft.com/office/drawing/2014/main" id="{62084C8D-76B2-485C-A722-2A6A4A788F55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Problem 8: LCOM* Results</a:t>
            </a:r>
          </a:p>
        </p:txBody>
      </p:sp>
      <p:graphicFrame>
        <p:nvGraphicFramePr>
          <p:cNvPr id="218" name="Google Shape;204;p14"/>
          <p:cNvGraphicFramePr/>
          <p:nvPr>
            <p:extLst>
              <p:ext uri="{D42A27DB-BD31-4B8C-83A1-F6EECF244321}">
                <p14:modId xmlns:p14="http://schemas.microsoft.com/office/powerpoint/2010/main" val="1075424418"/>
              </p:ext>
            </p:extLst>
          </p:nvPr>
        </p:nvGraphicFramePr>
        <p:xfrm>
          <a:off x="589680" y="1840089"/>
          <a:ext cx="3173875" cy="4470973"/>
        </p:xfrm>
        <a:graphic>
          <a:graphicData uri="http://schemas.openxmlformats.org/drawingml/2006/table">
            <a:tbl>
              <a:tblPr>
                <a:tableStyleId>{EFFB486D-6BB2-47A7-A367-C6903840951B}</a:tableStyleId>
              </a:tblPr>
              <a:tblGrid>
                <a:gridCol w="212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2994">
                <a:tc gridSpan="2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noProof="1">
                          <a:solidFill>
                            <a:srgbClr val="34495E"/>
                          </a:solidFill>
                        </a:rPr>
                        <a:t>🧩 LCOM* Summary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00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Applicable classes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19 / 23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00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Below 0.8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11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00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At/above 0.8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8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0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N/A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4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341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noProof="1">
                          <a:solidFill>
                            <a:srgbClr val="555555"/>
                          </a:solidFill>
                        </a:rPr>
                        <a:t>Highest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Insufficient 1.00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341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noProof="1">
                          <a:solidFill>
                            <a:srgbClr val="555555"/>
                          </a:solidFill>
                        </a:rPr>
                        <a:t>UI examples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Base 0.97; Tech 0.94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927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noProof="1">
                          <a:solidFill>
                            <a:srgbClr val="555555"/>
                          </a:solidFill>
                        </a:rPr>
                        <a:t>Action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Extract panel/state roles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6" name="Google Shape;206;p14">
            <a:extLst>
              <a:ext uri="{FF2B5EF4-FFF2-40B4-BE49-F238E27FC236}">
                <a16:creationId xmlns:a16="http://schemas.microsoft.com/office/drawing/2014/main" id="{E2843366-7E21-4391-A4EA-52B063CFAF51}"/>
              </a:ext>
            </a:extLst>
          </p:cNvPr>
          <p:cNvSpPr>
            <a:spLocks noGrp="1"/>
          </p:cNvSpPr>
          <p:nvPr/>
        </p:nvSpPr>
        <p:spPr>
          <a:xfrm>
            <a:off x="4125022" y="2607150"/>
            <a:ext cx="307200" cy="31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83A4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noProof="1"/>
          </a:p>
        </p:txBody>
      </p:sp>
      <p:sp>
        <p:nvSpPr>
          <p:cNvPr id="208" name="Google Shape;208;p14">
            <a:extLst>
              <a:ext uri="{FF2B5EF4-FFF2-40B4-BE49-F238E27FC236}">
                <a16:creationId xmlns:a16="http://schemas.microsoft.com/office/drawing/2014/main" id="{B2E6D2B5-9A58-4D30-AFC8-0A8B51DFE1F6}"/>
              </a:ext>
            </a:extLst>
          </p:cNvPr>
          <p:cNvSpPr>
            <a:spLocks noGrp="1"/>
          </p:cNvSpPr>
          <p:nvPr/>
        </p:nvSpPr>
        <p:spPr>
          <a:xfrm>
            <a:off x="4125022" y="4914123"/>
            <a:ext cx="307200" cy="31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83A4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noProof="1"/>
          </a:p>
        </p:txBody>
      </p:sp>
      <p:sp>
        <p:nvSpPr>
          <p:cNvPr id="209" name="Google Shape;209;p14">
            <a:extLst>
              <a:ext uri="{FF2B5EF4-FFF2-40B4-BE49-F238E27FC236}">
                <a16:creationId xmlns:a16="http://schemas.microsoft.com/office/drawing/2014/main" id="{39A7EF1D-E765-4182-8194-1D0ECF40BB71}"/>
              </a:ext>
            </a:extLst>
          </p:cNvPr>
          <p:cNvSpPr>
            <a:spLocks noGrp="1"/>
          </p:cNvSpPr>
          <p:nvPr/>
        </p:nvSpPr>
        <p:spPr>
          <a:xfrm>
            <a:off x="3890475" y="3118900"/>
            <a:ext cx="693600" cy="6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000" i="1" noProof="1">
                <a:solidFill>
                  <a:srgbClr val="666666"/>
                </a:solidFill>
              </a:rPr>
              <a:t>Instance-field usage</a:t>
            </a:r>
          </a:p>
        </p:txBody>
      </p:sp>
      <p:pic>
        <p:nvPicPr>
          <p:cNvPr id="222" name="Picture 2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680181" y="1840089"/>
            <a:ext cx="4000499" cy="2040500"/>
          </a:xfrm>
          <a:prstGeom prst="rect">
            <a:avLst/>
          </a:prstGeom>
        </p:spPr>
      </p:pic>
      <p:pic>
        <p:nvPicPr>
          <p:cNvPr id="223" name="Picture 2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635180" y="4302700"/>
            <a:ext cx="4000500" cy="154024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4DEB72-538D-BDB1-964D-317297E7D0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9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701700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">
            <a:extLst>
              <a:ext uri="{FF2B5EF4-FFF2-40B4-BE49-F238E27FC236}">
                <a16:creationId xmlns:a16="http://schemas.microsoft.com/office/drawing/2014/main" id="{2400A4D5-4486-4812-88FE-F71CD2C5C3B6}"/>
              </a:ext>
            </a:extLst>
          </p:cNvPr>
          <p:cNvSpPr>
            <a:spLocks noGrp="1"/>
          </p:cNvSpPr>
          <p:nvPr/>
        </p:nvSpPr>
        <p:spPr>
          <a:xfrm>
            <a:off x="237085" y="1010319"/>
            <a:ext cx="866268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1" noProof="1">
                <a:solidFill>
                  <a:srgbClr val="666666"/>
                </a:solidFill>
              </a:rPr>
              <a:t>The values point to a concentrated UI-design risk, not a system-wide failure. (Kamthan, 2026e)</a:t>
            </a:r>
          </a:p>
        </p:txBody>
      </p:sp>
      <p:sp>
        <p:nvSpPr>
          <p:cNvPr id="232" name="Google Shape;232;p17">
            <a:extLst>
              <a:ext uri="{FF2B5EF4-FFF2-40B4-BE49-F238E27FC236}">
                <a16:creationId xmlns:a16="http://schemas.microsoft.com/office/drawing/2014/main" id="{753E3577-FAAB-49D1-927F-D464FCC9E352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233" name="Google Shape;233;p17">
            <a:extLst>
              <a:ext uri="{FF2B5EF4-FFF2-40B4-BE49-F238E27FC236}">
                <a16:creationId xmlns:a16="http://schemas.microsoft.com/office/drawing/2014/main" id="{15511DD6-BA17-4FCE-86AA-751F576C0C67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100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Problem 8: Project-Specific Conclusions</a:t>
            </a:r>
          </a:p>
        </p:txBody>
      </p:sp>
      <p:sp>
        <p:nvSpPr>
          <p:cNvPr id="234" name="Google Shape;234;p17">
            <a:extLst>
              <a:ext uri="{FF2B5EF4-FFF2-40B4-BE49-F238E27FC236}">
                <a16:creationId xmlns:a16="http://schemas.microsoft.com/office/drawing/2014/main" id="{0B1C5E56-0155-4CD1-A767-CD0C218D2BDA}"/>
              </a:ext>
            </a:extLst>
          </p:cNvPr>
          <p:cNvSpPr>
            <a:spLocks noGrp="1"/>
          </p:cNvSpPr>
          <p:nvPr/>
        </p:nvSpPr>
        <p:spPr>
          <a:xfrm>
            <a:off x="504474" y="2729763"/>
            <a:ext cx="8127900" cy="8889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rgbClr val="555555"/>
                </a:solidFill>
              </a:rPr>
              <a:t>The main maintainability risk is UI orchestration concentrated in a few classes.</a:t>
            </a:r>
          </a:p>
        </p:txBody>
      </p:sp>
      <p:sp>
        <p:nvSpPr>
          <p:cNvPr id="235" name="Google Shape;235;p17">
            <a:extLst>
              <a:ext uri="{FF2B5EF4-FFF2-40B4-BE49-F238E27FC236}">
                <a16:creationId xmlns:a16="http://schemas.microsoft.com/office/drawing/2014/main" id="{44ED98F6-D1AC-4AB2-8C23-89BF7101954B}"/>
              </a:ext>
            </a:extLst>
          </p:cNvPr>
          <p:cNvSpPr>
            <a:spLocks noGrp="1"/>
          </p:cNvSpPr>
          <p:nvPr/>
        </p:nvSpPr>
        <p:spPr>
          <a:xfrm>
            <a:off x="444877" y="1866959"/>
            <a:ext cx="8127900" cy="712947"/>
          </a:xfrm>
          <a:prstGeom prst="roundRect">
            <a:avLst>
              <a:gd name="adj" fmla="val 0"/>
            </a:avLst>
          </a:prstGeom>
          <a:noFill/>
          <a:ln w="9525" cmpd="sng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noProof="1">
                <a:solidFill>
                  <a:srgbClr val="555555"/>
                </a:solidFill>
              </a:rPr>
              <a:t>WMC 99 + CF 0.4167 + localized LCOM* hotspots</a:t>
            </a:r>
          </a:p>
        </p:txBody>
      </p:sp>
      <p:sp>
        <p:nvSpPr>
          <p:cNvPr id="236" name="Google Shape;236;p17">
            <a:extLst>
              <a:ext uri="{FF2B5EF4-FFF2-40B4-BE49-F238E27FC236}">
                <a16:creationId xmlns:a16="http://schemas.microsoft.com/office/drawing/2014/main" id="{033DB6B9-D92B-47FE-A38B-123476144381}"/>
              </a:ext>
            </a:extLst>
          </p:cNvPr>
          <p:cNvSpPr>
            <a:spLocks noGrp="1"/>
          </p:cNvSpPr>
          <p:nvPr/>
        </p:nvSpPr>
        <p:spPr>
          <a:xfrm>
            <a:off x="762122" y="1671024"/>
            <a:ext cx="1953900" cy="3708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rgbClr val="555555"/>
                </a:solidFill>
              </a:rPr>
              <a:t>SO WHAT?</a:t>
            </a:r>
          </a:p>
        </p:txBody>
      </p:sp>
      <p:sp>
        <p:nvSpPr>
          <p:cNvPr id="237" name="Google Shape;237;p17">
            <a:extLst>
              <a:ext uri="{FF2B5EF4-FFF2-40B4-BE49-F238E27FC236}">
                <a16:creationId xmlns:a16="http://schemas.microsoft.com/office/drawing/2014/main" id="{35F3B0A2-FA03-406B-9138-4B9C8E94298C}"/>
              </a:ext>
            </a:extLst>
          </p:cNvPr>
          <p:cNvSpPr>
            <a:spLocks noGrp="1"/>
          </p:cNvSpPr>
          <p:nvPr/>
        </p:nvSpPr>
        <p:spPr>
          <a:xfrm>
            <a:off x="504474" y="3791750"/>
            <a:ext cx="3936901" cy="213529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noProof="1">
                <a:solidFill>
                  <a:srgbClr val="F1C40F"/>
                </a:solidFill>
              </a:rPr>
              <a:t>🔎 Why These Classes Stand Out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b="1" noProof="1">
              <a:solidFill>
                <a:srgbClr val="F1C40F"/>
              </a:solidFill>
            </a:endParaRP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555555"/>
                </a:solidFill>
              </a:rPr>
              <a:t>ClientDashboardPanel owns 23 instance methods and directly references 10 project types. </a:t>
            </a:r>
          </a:p>
          <a:p>
            <a:pPr marL="28575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555555"/>
                </a:solidFill>
              </a:rPr>
              <a:t>BaseViewPanel, TechnicianPanel, and MainFrame contain fields used by separate UI method groups.</a:t>
            </a:r>
          </a:p>
        </p:txBody>
      </p:sp>
      <p:sp>
        <p:nvSpPr>
          <p:cNvPr id="238" name="Google Shape;238;p17">
            <a:extLst>
              <a:ext uri="{FF2B5EF4-FFF2-40B4-BE49-F238E27FC236}">
                <a16:creationId xmlns:a16="http://schemas.microsoft.com/office/drawing/2014/main" id="{C057174F-DD3B-41EA-891F-62D94348B221}"/>
              </a:ext>
            </a:extLst>
          </p:cNvPr>
          <p:cNvSpPr>
            <a:spLocks noGrp="1"/>
          </p:cNvSpPr>
          <p:nvPr/>
        </p:nvSpPr>
        <p:spPr>
          <a:xfrm>
            <a:off x="5000978" y="3791750"/>
            <a:ext cx="3638548" cy="213529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noProof="1">
                <a:solidFill>
                  <a:srgbClr val="E74C3C"/>
                </a:solidFill>
              </a:rPr>
              <a:t>🔧 Targeted Design Response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b="1" noProof="1">
              <a:solidFill>
                <a:srgbClr val="E74C3C"/>
              </a:solidFill>
            </a:endParaRPr>
          </a:p>
          <a:p>
            <a:pPr marL="285750" marR="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555555"/>
                </a:solidFill>
              </a:rPr>
              <a:t>Extract transaction-state handlers from ClientDashboardPanel; move orchestration into controllers/services; split large UI containers into focused panels or state holders. </a:t>
            </a:r>
          </a:p>
          <a:p>
            <a:pPr marL="285750" marR="0" lvl="0" indent="-285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555555"/>
                </a:solidFill>
              </a:rPr>
              <a:t>N/A LCOM* cases are not failures.</a:t>
            </a:r>
          </a:p>
        </p:txBody>
      </p:sp>
      <p:sp>
        <p:nvSpPr>
          <p:cNvPr id="239" name="Google Shape;239;p17">
            <a:extLst>
              <a:ext uri="{FF2B5EF4-FFF2-40B4-BE49-F238E27FC236}">
                <a16:creationId xmlns:a16="http://schemas.microsoft.com/office/drawing/2014/main" id="{A3E4FADE-708C-4FD9-90B3-571191AE0449}"/>
              </a:ext>
            </a:extLst>
          </p:cNvPr>
          <p:cNvSpPr>
            <a:spLocks noGrp="1"/>
          </p:cNvSpPr>
          <p:nvPr/>
        </p:nvSpPr>
        <p:spPr>
          <a:xfrm>
            <a:off x="4508827" y="4832809"/>
            <a:ext cx="387600" cy="370800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E6B8AF"/>
              </a:gs>
              <a:gs pos="100000">
                <a:srgbClr val="D9EAD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noProof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0A3AF4-54D0-2A3B-0FA7-01FF29C8F1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10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43371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>
            <a:extLst>
              <a:ext uri="{FF2B5EF4-FFF2-40B4-BE49-F238E27FC236}">
                <a16:creationId xmlns:a16="http://schemas.microsoft.com/office/drawing/2014/main" id="{E320CCC7-0255-41A0-9934-AD9AE2A7894E}"/>
              </a:ext>
            </a:extLst>
          </p:cNvPr>
          <p:cNvSpPr>
            <a:spLocks noGrp="1"/>
          </p:cNvSpPr>
          <p:nvPr/>
        </p:nvSpPr>
        <p:spPr>
          <a:xfrm>
            <a:off x="303840" y="930960"/>
            <a:ext cx="866268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1" noProof="1">
                <a:solidFill>
                  <a:srgbClr val="666666"/>
                </a:solidFill>
              </a:rPr>
              <a:t>Native table view — first 12 classes. (Kamthan, 2026e)</a:t>
            </a:r>
          </a:p>
        </p:txBody>
      </p:sp>
      <p:sp>
        <p:nvSpPr>
          <p:cNvPr id="189" name="Google Shape;189;p13">
            <a:extLst>
              <a:ext uri="{FF2B5EF4-FFF2-40B4-BE49-F238E27FC236}">
                <a16:creationId xmlns:a16="http://schemas.microsoft.com/office/drawing/2014/main" id="{2284FF1A-C559-4F58-9D04-396615F981FE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190" name="Google Shape;190;p13">
            <a:extLst>
              <a:ext uri="{FF2B5EF4-FFF2-40B4-BE49-F238E27FC236}">
                <a16:creationId xmlns:a16="http://schemas.microsoft.com/office/drawing/2014/main" id="{B065B529-281F-4289-8E80-EF6332E700AF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Problem 8: Complete Class Matrix (1/2)</a:t>
            </a:r>
          </a:p>
        </p:txBody>
      </p:sp>
      <p:sp>
        <p:nvSpPr>
          <p:cNvPr id="193" name="Google Shape;193;p13">
            <a:extLst>
              <a:ext uri="{FF2B5EF4-FFF2-40B4-BE49-F238E27FC236}">
                <a16:creationId xmlns:a16="http://schemas.microsoft.com/office/drawing/2014/main" id="{B196DAC3-4DCD-468B-A79E-EC33226351D7}"/>
              </a:ext>
            </a:extLst>
          </p:cNvPr>
          <p:cNvSpPr>
            <a:spLocks noGrp="1"/>
          </p:cNvSpPr>
          <p:nvPr/>
        </p:nvSpPr>
        <p:spPr>
          <a:xfrm>
            <a:off x="571500" y="5105400"/>
            <a:ext cx="8001000" cy="4572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8C1531"/>
                </a:solidFill>
                <a:latin typeface="Arial"/>
                <a:ea typeface="Arial"/>
                <a:cs typeface="Arial"/>
              </a:defRPr>
            </a:pPr>
            <a:r>
              <a:rPr lang="en-US" sz="1350" b="1" noProof="1">
                <a:solidFill>
                  <a:srgbClr val="8C1531"/>
                </a:solidFill>
                <a:latin typeface="Arial"/>
                <a:ea typeface="Arial"/>
                <a:cs typeface="Arial"/>
              </a:rPr>
              <a:t>KEY CHECK — No class exceeds WMC &gt; 100; ClientDashboardPanel is the near-limit hotspot at 99.</a:t>
            </a:r>
          </a:p>
        </p:txBody>
      </p:sp>
      <p:sp>
        <p:nvSpPr>
          <p:cNvPr id="194" name="Google Shape;194;p13">
            <a:extLst>
              <a:ext uri="{FF2B5EF4-FFF2-40B4-BE49-F238E27FC236}">
                <a16:creationId xmlns:a16="http://schemas.microsoft.com/office/drawing/2014/main" id="{065F34BF-E11C-4F99-9D94-26DBD1F3C6D7}"/>
              </a:ext>
            </a:extLst>
          </p:cNvPr>
          <p:cNvSpPr>
            <a:spLocks noGrp="1"/>
          </p:cNvSpPr>
          <p:nvPr/>
        </p:nvSpPr>
        <p:spPr>
          <a:xfrm>
            <a:off x="571500" y="5737222"/>
            <a:ext cx="66675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125" i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lang="en-US" sz="1125" i="1" noProof="1">
                <a:solidFill>
                  <a:srgbClr val="777777"/>
                </a:solidFill>
                <a:latin typeface="Arial"/>
                <a:ea typeface="Arial"/>
                <a:cs typeface="Arial"/>
              </a:rPr>
              <a:t>Full precision and coupled-type details: d3/eval/class_metrics.csv</a:t>
            </a:r>
          </a:p>
        </p:txBody>
      </p:sp>
      <p:graphicFrame>
        <p:nvGraphicFramePr>
          <p:cNvPr id="203" name="Table 202"/>
          <p:cNvGraphicFramePr/>
          <p:nvPr>
            <p:extLst>
              <p:ext uri="{D42A27DB-BD31-4B8C-83A1-F6EECF244321}">
                <p14:modId xmlns:p14="http://schemas.microsoft.com/office/powerpoint/2010/main" val="2387905820"/>
              </p:ext>
            </p:extLst>
          </p:nvPr>
        </p:nvGraphicFramePr>
        <p:xfrm>
          <a:off x="571500" y="1524000"/>
          <a:ext cx="8001000" cy="3381378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106">
                <a:tc>
                  <a:txBody>
                    <a:bodyPr/>
                    <a:lstStyle/>
                    <a:p>
                      <a:r>
                        <a:rPr lang="en-US" sz="1350" b="1" noProof="1">
                          <a:solidFill>
                            <a:srgbClr val="8C1531"/>
                          </a:solidFill>
                          <a:latin typeface="Arial"/>
                          <a:ea typeface="Arial"/>
                          <a:cs typeface="Arial"/>
                        </a:rPr>
                        <a:t>Class</a:t>
                      </a:r>
                    </a:p>
                  </a:txBody>
                  <a:tcPr marL="76200" marR="76200" marT="19050" marB="19050" anchor="ctr">
                    <a:solidFill>
                      <a:srgbClr val="E8D1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 noProof="1">
                          <a:solidFill>
                            <a:srgbClr val="8C1531"/>
                          </a:solidFill>
                          <a:latin typeface="Arial"/>
                          <a:ea typeface="Arial"/>
                          <a:cs typeface="Arial"/>
                        </a:rPr>
                        <a:t>WMC</a:t>
                      </a:r>
                    </a:p>
                  </a:txBody>
                  <a:tcPr marL="76200" marR="76200" marT="19050" marB="19050" anchor="ctr">
                    <a:solidFill>
                      <a:srgbClr val="E8D1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 noProof="1">
                          <a:solidFill>
                            <a:srgbClr val="8C1531"/>
                          </a:solidFill>
                          <a:latin typeface="Arial"/>
                          <a:ea typeface="Arial"/>
                          <a:cs typeface="Arial"/>
                        </a:rPr>
                        <a:t>CF</a:t>
                      </a:r>
                    </a:p>
                  </a:txBody>
                  <a:tcPr marL="76200" marR="76200" marT="19050" marB="19050" anchor="ctr">
                    <a:solidFill>
                      <a:srgbClr val="E8D1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 noProof="1">
                          <a:solidFill>
                            <a:srgbClr val="8C1531"/>
                          </a:solidFill>
                          <a:latin typeface="Arial"/>
                          <a:ea typeface="Arial"/>
                          <a:cs typeface="Arial"/>
                        </a:rPr>
                        <a:t>LCOM*</a:t>
                      </a:r>
                    </a:p>
                  </a:txBody>
                  <a:tcPr marL="76200" marR="76200" marT="19050" marB="19050" anchor="ctr">
                    <a:solidFill>
                      <a:srgbClr val="E8D1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06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Account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0.90</a:t>
                      </a: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06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AccountLockedException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06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AdminDashboardPanel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0.29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0.68</a:t>
                      </a: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06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AuthenticationController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0.17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0.67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06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BankClient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0.04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0.33</a:t>
                      </a: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06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BaseViewPanel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0.13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0.97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06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CashBox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0.63</a:t>
                      </a: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106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ClientDashboardPanel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99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0.42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0.70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106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DatabaseManager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0.25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106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ExchangeRateManager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0.04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0.67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0106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I18nController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0.71</a:t>
                      </a: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0106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InsufficientFundException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1.00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CEB424-EE5D-6952-EE15-D11BA163B2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11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53875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>
            <a:extLst>
              <a:ext uri="{FF2B5EF4-FFF2-40B4-BE49-F238E27FC236}">
                <a16:creationId xmlns:a16="http://schemas.microsoft.com/office/drawing/2014/main" id="{E320CCC7-0255-41A0-9934-AD9AE2A7894E}"/>
              </a:ext>
            </a:extLst>
          </p:cNvPr>
          <p:cNvSpPr>
            <a:spLocks noGrp="1"/>
          </p:cNvSpPr>
          <p:nvPr/>
        </p:nvSpPr>
        <p:spPr>
          <a:xfrm>
            <a:off x="303840" y="930960"/>
            <a:ext cx="866268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1" noProof="1">
                <a:solidFill>
                  <a:srgbClr val="666666"/>
                </a:solidFill>
              </a:rPr>
              <a:t>Native table view — remaining 11 classes. (Kamthan, 2026e)</a:t>
            </a:r>
          </a:p>
        </p:txBody>
      </p:sp>
      <p:sp>
        <p:nvSpPr>
          <p:cNvPr id="189" name="Google Shape;189;p13">
            <a:extLst>
              <a:ext uri="{FF2B5EF4-FFF2-40B4-BE49-F238E27FC236}">
                <a16:creationId xmlns:a16="http://schemas.microsoft.com/office/drawing/2014/main" id="{2284FF1A-C559-4F58-9D04-396615F981FE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190" name="Google Shape;190;p13">
            <a:extLst>
              <a:ext uri="{FF2B5EF4-FFF2-40B4-BE49-F238E27FC236}">
                <a16:creationId xmlns:a16="http://schemas.microsoft.com/office/drawing/2014/main" id="{B065B529-281F-4289-8E80-EF6332E700AF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Problem 8: Complete Class Matrix (2/2)</a:t>
            </a:r>
          </a:p>
        </p:txBody>
      </p:sp>
      <p:sp>
        <p:nvSpPr>
          <p:cNvPr id="193" name="Google Shape;193;p13">
            <a:extLst>
              <a:ext uri="{FF2B5EF4-FFF2-40B4-BE49-F238E27FC236}">
                <a16:creationId xmlns:a16="http://schemas.microsoft.com/office/drawing/2014/main" id="{B196DAC3-4DCD-468B-A79E-EC33226351D7}"/>
              </a:ext>
            </a:extLst>
          </p:cNvPr>
          <p:cNvSpPr>
            <a:spLocks noGrp="1"/>
          </p:cNvSpPr>
          <p:nvPr/>
        </p:nvSpPr>
        <p:spPr>
          <a:xfrm>
            <a:off x="571500" y="5033961"/>
            <a:ext cx="8001000" cy="4572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8C1531"/>
                </a:solidFill>
                <a:latin typeface="Arial"/>
                <a:ea typeface="Arial"/>
                <a:cs typeface="Arial"/>
              </a:defRPr>
            </a:pPr>
            <a:r>
              <a:rPr lang="en-US" sz="1350" b="1" noProof="1">
                <a:solidFill>
                  <a:srgbClr val="8C1531"/>
                </a:solidFill>
                <a:latin typeface="Arial"/>
                <a:ea typeface="Arial"/>
                <a:cs typeface="Arial"/>
              </a:rPr>
              <a:t>KEY CHECK — Highest CF contribution: 0.42 • LCOM* ≥ 0.80: 8 classes • N/A is not a failure.</a:t>
            </a:r>
          </a:p>
        </p:txBody>
      </p:sp>
      <p:sp>
        <p:nvSpPr>
          <p:cNvPr id="194" name="Google Shape;194;p13">
            <a:extLst>
              <a:ext uri="{FF2B5EF4-FFF2-40B4-BE49-F238E27FC236}">
                <a16:creationId xmlns:a16="http://schemas.microsoft.com/office/drawing/2014/main" id="{065F34BF-E11C-4F99-9D94-26DBD1F3C6D7}"/>
              </a:ext>
            </a:extLst>
          </p:cNvPr>
          <p:cNvSpPr>
            <a:spLocks noGrp="1"/>
          </p:cNvSpPr>
          <p:nvPr/>
        </p:nvSpPr>
        <p:spPr>
          <a:xfrm>
            <a:off x="571500" y="5619750"/>
            <a:ext cx="66675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125" i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lang="en-US" sz="1125" i="1" noProof="1">
                <a:solidFill>
                  <a:srgbClr val="777777"/>
                </a:solidFill>
                <a:latin typeface="Arial"/>
                <a:ea typeface="Arial"/>
                <a:cs typeface="Arial"/>
              </a:rPr>
              <a:t>Full precision and coupled-type details: d3/eval/class_metrics.csv</a:t>
            </a:r>
          </a:p>
        </p:txBody>
      </p:sp>
      <p:graphicFrame>
        <p:nvGraphicFramePr>
          <p:cNvPr id="203" name="Table 202"/>
          <p:cNvGraphicFramePr/>
          <p:nvPr>
            <p:extLst>
              <p:ext uri="{D42A27DB-BD31-4B8C-83A1-F6EECF244321}">
                <p14:modId xmlns:p14="http://schemas.microsoft.com/office/powerpoint/2010/main" val="1072442717"/>
              </p:ext>
            </p:extLst>
          </p:nvPr>
        </p:nvGraphicFramePr>
        <p:xfrm>
          <a:off x="571500" y="1524000"/>
          <a:ext cx="8001000" cy="3381372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r>
                        <a:rPr lang="en-US" sz="1350" b="1" noProof="1">
                          <a:solidFill>
                            <a:srgbClr val="8C1531"/>
                          </a:solidFill>
                          <a:latin typeface="Arial"/>
                          <a:ea typeface="Arial"/>
                          <a:cs typeface="Arial"/>
                        </a:rPr>
                        <a:t>Class</a:t>
                      </a:r>
                    </a:p>
                  </a:txBody>
                  <a:tcPr marL="76200" marR="76200" marT="19050" marB="19050" anchor="ctr">
                    <a:solidFill>
                      <a:srgbClr val="E8D1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 noProof="1">
                          <a:solidFill>
                            <a:srgbClr val="8C1531"/>
                          </a:solidFill>
                          <a:latin typeface="Arial"/>
                          <a:ea typeface="Arial"/>
                          <a:cs typeface="Arial"/>
                        </a:rPr>
                        <a:t>WMC</a:t>
                      </a:r>
                    </a:p>
                  </a:txBody>
                  <a:tcPr marL="76200" marR="76200" marT="19050" marB="19050" anchor="ctr">
                    <a:solidFill>
                      <a:srgbClr val="E8D1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 noProof="1">
                          <a:solidFill>
                            <a:srgbClr val="8C1531"/>
                          </a:solidFill>
                          <a:latin typeface="Arial"/>
                          <a:ea typeface="Arial"/>
                          <a:cs typeface="Arial"/>
                        </a:rPr>
                        <a:t>CF</a:t>
                      </a:r>
                    </a:p>
                  </a:txBody>
                  <a:tcPr marL="76200" marR="76200" marT="19050" marB="19050" anchor="ctr">
                    <a:solidFill>
                      <a:srgbClr val="E8D1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 noProof="1">
                          <a:solidFill>
                            <a:srgbClr val="8C1531"/>
                          </a:solidFill>
                          <a:latin typeface="Arial"/>
                          <a:ea typeface="Arial"/>
                          <a:cs typeface="Arial"/>
                        </a:rPr>
                        <a:t>LCOM*</a:t>
                      </a:r>
                    </a:p>
                  </a:txBody>
                  <a:tcPr marL="76200" marR="76200" marT="19050" marB="19050" anchor="ctr">
                    <a:solidFill>
                      <a:srgbClr val="E8D1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InvalidAmountException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LanguageSelectorPanel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33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0.17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0.91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LoginPanel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0.38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0.70</a:t>
                      </a: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MainFrame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0.38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0.83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NumpadPanel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0.08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0.85</a:t>
                      </a: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SystemAdmin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Technician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TechnicianPanel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0.21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0.94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TransactionController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0.29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0.17</a:t>
                      </a: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TransactionRecord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0.13</a:t>
                      </a:r>
                    </a:p>
                  </a:txBody>
                  <a:tcPr marL="76200" marR="76200" marT="19050" marB="19050" anchor="ctr">
                    <a:solidFill>
                      <a:srgbClr val="F6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User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76200" marR="7620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4F4F4F"/>
                          </a:solidFill>
                          <a:latin typeface="Arial"/>
                          <a:ea typeface="Arial"/>
                          <a:cs typeface="Arial"/>
                        </a:rPr>
                        <a:t>0.87</a:t>
                      </a:r>
                    </a:p>
                  </a:txBody>
                  <a:tcPr marL="76200" marR="76200" marT="19050" marB="1905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052E2B-4CD7-BD4E-15A0-2031FE0629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12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53875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>
            <a:extLst>
              <a:ext uri="{FF2B5EF4-FFF2-40B4-BE49-F238E27FC236}">
                <a16:creationId xmlns:a16="http://schemas.microsoft.com/office/drawing/2014/main" id="{E320CCC7-0255-41A0-9934-AD9AE2A7894E}"/>
              </a:ext>
            </a:extLst>
          </p:cNvPr>
          <p:cNvSpPr>
            <a:spLocks noGrp="1"/>
          </p:cNvSpPr>
          <p:nvPr/>
        </p:nvSpPr>
        <p:spPr>
          <a:xfrm>
            <a:off x="240660" y="980398"/>
            <a:ext cx="866268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1" noProof="1">
                <a:solidFill>
                  <a:srgbClr val="666666"/>
                </a:solidFill>
              </a:rPr>
              <a:t>Lecture categories are applied to three GUI actors and eleven counted use cases. (Kamthan, 2026b)</a:t>
            </a:r>
          </a:p>
        </p:txBody>
      </p:sp>
      <p:sp>
        <p:nvSpPr>
          <p:cNvPr id="189" name="Google Shape;189;p13">
            <a:extLst>
              <a:ext uri="{FF2B5EF4-FFF2-40B4-BE49-F238E27FC236}">
                <a16:creationId xmlns:a16="http://schemas.microsoft.com/office/drawing/2014/main" id="{2284FF1A-C559-4F58-9D04-396615F981FE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190" name="Google Shape;190;p13">
            <a:extLst>
              <a:ext uri="{FF2B5EF4-FFF2-40B4-BE49-F238E27FC236}">
                <a16:creationId xmlns:a16="http://schemas.microsoft.com/office/drawing/2014/main" id="{B065B529-281F-4289-8E80-EF6332E700AF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Problem 9: Why UAW = 9 and UUCW = 125</a:t>
            </a:r>
          </a:p>
        </p:txBody>
      </p:sp>
      <p:sp>
        <p:nvSpPr>
          <p:cNvPr id="191" name="Google Shape;191;p13">
            <a:extLst>
              <a:ext uri="{FF2B5EF4-FFF2-40B4-BE49-F238E27FC236}">
                <a16:creationId xmlns:a16="http://schemas.microsoft.com/office/drawing/2014/main" id="{559B967F-C79E-4A36-80E8-5F529E6E5E5E}"/>
              </a:ext>
            </a:extLst>
          </p:cNvPr>
          <p:cNvSpPr>
            <a:spLocks noGrp="1"/>
          </p:cNvSpPr>
          <p:nvPr/>
        </p:nvSpPr>
        <p:spPr>
          <a:xfrm>
            <a:off x="552450" y="1838263"/>
            <a:ext cx="3857625" cy="3151426"/>
          </a:xfrm>
          <a:prstGeom prst="roundRect">
            <a:avLst>
              <a:gd name="adj" fmla="val 0"/>
            </a:avLst>
          </a:prstGeom>
          <a:solidFill>
            <a:srgbClr val="F7F3F4"/>
          </a:solidFill>
          <a:ln w="11430">
            <a:solidFill>
              <a:srgbClr val="D8B9C2"/>
            </a:solidFill>
            <a:prstDash val="solid"/>
          </a:ln>
        </p:spPr>
        <p:txBody>
          <a:bodyPr spcFirstLastPara="1" wrap="square" lIns="171450" tIns="152400" rIns="171450" bIns="13335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14"/>
              </a:spcAft>
              <a:buNone/>
              <a:defRPr sz="13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350" b="1" u="sng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WHY EACH ACTOR WEIGHS 3</a:t>
            </a:r>
          </a:p>
          <a:p>
            <a:pPr>
              <a:lnSpc>
                <a:spcPct val="112000"/>
              </a:lnSpc>
              <a:spcAft>
                <a:spcPts val="14"/>
              </a:spcAft>
              <a:buNone/>
              <a:defRPr sz="13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endParaRPr lang="en-US" sz="1350" b="1" noProof="1">
              <a:solidFill>
                <a:srgbClr val="555555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lnSpc>
                <a:spcPct val="150000"/>
              </a:lnSpc>
              <a:spcAft>
                <a:spcPts val="14"/>
              </a:spcAft>
              <a:buFont typeface="Arial" panose="020B0604020202020204" pitchFamily="34" charset="0"/>
              <a:buChar char="•"/>
              <a:defRPr sz="13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Lecture rule: a person interacting through a GUI is a complex actor, weighted 3.</a:t>
            </a:r>
          </a:p>
          <a:p>
            <a:pPr marL="285750" indent="-285750">
              <a:lnSpc>
                <a:spcPct val="150000"/>
              </a:lnSpc>
              <a:spcAft>
                <a:spcPts val="14"/>
              </a:spcAft>
              <a:buFont typeface="Arial" panose="020B0604020202020204" pitchFamily="34" charset="0"/>
              <a:buChar char="•"/>
              <a:defRPr sz="13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Bank Client · System Administrator · Technician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3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350" b="1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UAW = 3 actors × 3 = 9</a:t>
            </a:r>
          </a:p>
        </p:txBody>
      </p:sp>
      <p:sp>
        <p:nvSpPr>
          <p:cNvPr id="192" name="Google Shape;192;p13">
            <a:extLst>
              <a:ext uri="{FF2B5EF4-FFF2-40B4-BE49-F238E27FC236}">
                <a16:creationId xmlns:a16="http://schemas.microsoft.com/office/drawing/2014/main" id="{F7B55E16-3347-4350-BAEA-4DFEA237549C}"/>
              </a:ext>
            </a:extLst>
          </p:cNvPr>
          <p:cNvSpPr>
            <a:spLocks noGrp="1"/>
          </p:cNvSpPr>
          <p:nvPr/>
        </p:nvSpPr>
        <p:spPr>
          <a:xfrm>
            <a:off x="4733927" y="1838262"/>
            <a:ext cx="3857625" cy="3151426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 w="11430">
            <a:solidFill>
              <a:srgbClr val="D7D7D7"/>
            </a:solidFill>
            <a:prstDash val="solid"/>
          </a:ln>
        </p:spPr>
        <p:txBody>
          <a:bodyPr spcFirstLastPara="1" wrap="square" lIns="171450" tIns="152400" rIns="171450" bIns="13335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12"/>
              </a:spcAft>
              <a:buNone/>
              <a:defRPr sz="13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350" b="1" u="sng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WHY UUCW EQUALS 125</a:t>
            </a:r>
          </a:p>
          <a:p>
            <a:pPr>
              <a:lnSpc>
                <a:spcPct val="112000"/>
              </a:lnSpc>
              <a:spcAft>
                <a:spcPts val="12"/>
              </a:spcAft>
              <a:buNone/>
              <a:defRPr sz="13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endParaRPr lang="en-US" sz="1350" b="1" noProof="1">
              <a:solidFill>
                <a:srgbClr val="555555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lnSpc>
                <a:spcPct val="150000"/>
              </a:lnSpc>
              <a:spcAft>
                <a:spcPts val="10"/>
              </a:spcAft>
              <a:buFont typeface="Arial" panose="020B0604020202020204" pitchFamily="34" charset="0"/>
              <a:buChar char="•"/>
              <a:defRPr sz="13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Count main-success actor–system transactions.</a:t>
            </a:r>
          </a:p>
          <a:p>
            <a:pPr marL="285750" indent="-285750">
              <a:lnSpc>
                <a:spcPct val="150000"/>
              </a:lnSpc>
              <a:spcAft>
                <a:spcPts val="8"/>
              </a:spcAft>
              <a:buFont typeface="Arial" panose="020B0604020202020204" pitchFamily="34" charset="0"/>
              <a:buChar char="•"/>
              <a:defRPr sz="13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Simple: Check Balance (2) → 1 × 5 = 5</a:t>
            </a:r>
          </a:p>
          <a:p>
            <a:pPr marL="285750" indent="-285750">
              <a:lnSpc>
                <a:spcPct val="150000"/>
              </a:lnSpc>
              <a:spcAft>
                <a:spcPts val="8"/>
              </a:spcAft>
              <a:buFont typeface="Arial" panose="020B0604020202020204" pitchFamily="34" charset="0"/>
              <a:buChar char="•"/>
              <a:defRPr sz="13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Average: 6 use cases (4–7) → 6 × 10 = 60</a:t>
            </a:r>
          </a:p>
          <a:p>
            <a:pPr marL="285750" indent="-285750">
              <a:lnSpc>
                <a:spcPct val="150000"/>
              </a:lnSpc>
              <a:spcAft>
                <a:spcPts val="10"/>
              </a:spcAft>
              <a:buFont typeface="Arial" panose="020B0604020202020204" pitchFamily="34" charset="0"/>
              <a:buChar char="•"/>
              <a:defRPr sz="13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Complex: Withdraw 10 · Deposit 10 · Transfer 12 · Exchange Rate 8 → 4 × 15 = 60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35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350" b="1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UUCW = 125; UUCP = 9 + 125 = 134</a:t>
            </a:r>
          </a:p>
        </p:txBody>
      </p:sp>
      <p:sp>
        <p:nvSpPr>
          <p:cNvPr id="193" name="Google Shape;193;p13">
            <a:extLst>
              <a:ext uri="{FF2B5EF4-FFF2-40B4-BE49-F238E27FC236}">
                <a16:creationId xmlns:a16="http://schemas.microsoft.com/office/drawing/2014/main" id="{B196DAC3-4DCD-468B-A79E-EC33226351D7}"/>
              </a:ext>
            </a:extLst>
          </p:cNvPr>
          <p:cNvSpPr>
            <a:spLocks noGrp="1"/>
          </p:cNvSpPr>
          <p:nvPr/>
        </p:nvSpPr>
        <p:spPr>
          <a:xfrm>
            <a:off x="552450" y="5124075"/>
            <a:ext cx="8039100" cy="514350"/>
          </a:xfrm>
          <a:prstGeom prst="roundRect">
            <a:avLst>
              <a:gd name="adj" fmla="val 0"/>
            </a:avLst>
          </a:prstGeom>
          <a:solidFill>
            <a:srgbClr val="FAF7F8"/>
          </a:solidFill>
          <a:ln w="11430">
            <a:solidFill>
              <a:srgbClr val="D8B9C2"/>
            </a:solidFill>
            <a:prstDash val="solid"/>
          </a:ln>
        </p:spPr>
        <p:txBody>
          <a:bodyPr spcFirstLastPara="1" wrap="square" lIns="152400" tIns="76200" rIns="152400" bIns="76200" anchor="ctr">
            <a:noAutofit/>
          </a:bodyPr>
          <a:lstStyle/>
          <a:p>
            <a:pPr marL="0" lv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200" b="0" i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200" b="0" i="1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Traceability: all 11 counted use cases and transaction counts are retained in ucp_use_cases.csv; included sub-use cases are counted once.</a:t>
            </a:r>
          </a:p>
        </p:txBody>
      </p:sp>
      <p:sp>
        <p:nvSpPr>
          <p:cNvPr id="194" name="Google Shape;194;p13">
            <a:extLst>
              <a:ext uri="{FF2B5EF4-FFF2-40B4-BE49-F238E27FC236}">
                <a16:creationId xmlns:a16="http://schemas.microsoft.com/office/drawing/2014/main" id="{065F34BF-E11C-4F99-9D94-26DBD1F3C6D7}"/>
              </a:ext>
            </a:extLst>
          </p:cNvPr>
          <p:cNvSpPr>
            <a:spLocks noGrp="1"/>
          </p:cNvSpPr>
          <p:nvPr/>
        </p:nvSpPr>
        <p:spPr>
          <a:xfrm>
            <a:off x="552450" y="5680740"/>
            <a:ext cx="498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 noProof="1">
                <a:solidFill>
                  <a:srgbClr val="888888"/>
                </a:solidFill>
              </a:rPr>
              <a:t>Details: d3/eval/ucp_actors.csv and ucp_use_cases.csv</a:t>
            </a:r>
          </a:p>
        </p:txBody>
      </p:sp>
      <p:sp>
        <p:nvSpPr>
          <p:cNvPr id="196" name="Google Shape;196;p13">
            <a:extLst>
              <a:ext uri="{FF2B5EF4-FFF2-40B4-BE49-F238E27FC236}">
                <a16:creationId xmlns:a16="http://schemas.microsoft.com/office/drawing/2014/main" id="{E0F8BB2D-DC04-45B0-8D99-CAF0499AFBFC}"/>
              </a:ext>
            </a:extLst>
          </p:cNvPr>
          <p:cNvSpPr>
            <a:spLocks noGrp="1"/>
          </p:cNvSpPr>
          <p:nvPr/>
        </p:nvSpPr>
        <p:spPr>
          <a:xfrm>
            <a:off x="552450" y="6031005"/>
            <a:ext cx="471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 noProof="1">
                <a:solidFill>
                  <a:srgbClr val="555555"/>
                </a:solidFill>
              </a:rPr>
              <a:t>Lecture weights: simple 5 · average 10 · complex 15.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0CD299-ACA0-56DC-1F67-B007249FBF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13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53875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>
            <a:extLst>
              <a:ext uri="{FF2B5EF4-FFF2-40B4-BE49-F238E27FC236}">
                <a16:creationId xmlns:a16="http://schemas.microsoft.com/office/drawing/2014/main" id="{FA95B45E-007E-4B6D-BB7B-5EFB41CC394F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215" name="Google Shape;215;p15">
            <a:extLst>
              <a:ext uri="{FF2B5EF4-FFF2-40B4-BE49-F238E27FC236}">
                <a16:creationId xmlns:a16="http://schemas.microsoft.com/office/drawing/2014/main" id="{903B6505-9C2C-45B5-B77A-1B11E7DD4324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Problem 9: UCP Adjustment Factors</a:t>
            </a:r>
          </a:p>
        </p:txBody>
      </p:sp>
      <p:sp>
        <p:nvSpPr>
          <p:cNvPr id="216" name="Google Shape;216;p15">
            <a:extLst>
              <a:ext uri="{FF2B5EF4-FFF2-40B4-BE49-F238E27FC236}">
                <a16:creationId xmlns:a16="http://schemas.microsoft.com/office/drawing/2014/main" id="{9AFE6FA4-2C0C-4EC1-89D5-61664FB57998}"/>
              </a:ext>
            </a:extLst>
          </p:cNvPr>
          <p:cNvSpPr>
            <a:spLocks noGrp="1"/>
          </p:cNvSpPr>
          <p:nvPr/>
        </p:nvSpPr>
        <p:spPr>
          <a:xfrm>
            <a:off x="240660" y="963610"/>
            <a:ext cx="8662679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1" noProof="1">
                <a:solidFill>
                  <a:srgbClr val="666666"/>
                </a:solidFill>
              </a:rPr>
              <a:t>TCF and ECF adjust 134 UUCP. (Kamthan, 2026b)</a:t>
            </a:r>
          </a:p>
        </p:txBody>
      </p:sp>
      <p:sp>
        <p:nvSpPr>
          <p:cNvPr id="217" name="Google Shape;217;p15">
            <a:extLst>
              <a:ext uri="{FF2B5EF4-FFF2-40B4-BE49-F238E27FC236}">
                <a16:creationId xmlns:a16="http://schemas.microsoft.com/office/drawing/2014/main" id="{4B401E43-1BA0-43C0-9362-B026526ECDDD}"/>
              </a:ext>
            </a:extLst>
          </p:cNvPr>
          <p:cNvSpPr>
            <a:spLocks noGrp="1"/>
          </p:cNvSpPr>
          <p:nvPr/>
        </p:nvSpPr>
        <p:spPr>
          <a:xfrm>
            <a:off x="325200" y="1568920"/>
            <a:ext cx="8493600" cy="1024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noProof="1">
                <a:solidFill>
                  <a:srgbClr val="555555"/>
                </a:solidFill>
              </a:rPr>
              <a:t>Ratings follow the lecture definitions and are auditable in CSV. Examples: T1 Distributed system = 0 (standalone); T3 End-user efficiency = 5; E2 Part-time workers = 5; E8 Stable requirements = 4.</a:t>
            </a:r>
          </a:p>
        </p:txBody>
      </p:sp>
      <p:graphicFrame>
        <p:nvGraphicFramePr>
          <p:cNvPr id="223" name="Google Shape;218;p15"/>
          <p:cNvGraphicFramePr/>
          <p:nvPr>
            <p:extLst>
              <p:ext uri="{D42A27DB-BD31-4B8C-83A1-F6EECF244321}">
                <p14:modId xmlns:p14="http://schemas.microsoft.com/office/powerpoint/2010/main" val="2263404703"/>
              </p:ext>
            </p:extLst>
          </p:nvPr>
        </p:nvGraphicFramePr>
        <p:xfrm>
          <a:off x="388380" y="2788824"/>
          <a:ext cx="8493600" cy="2500642"/>
        </p:xfrm>
        <a:graphic>
          <a:graphicData uri="http://schemas.openxmlformats.org/drawingml/2006/table">
            <a:tbl>
              <a:tblPr>
                <a:tableStyleId>{EFFB486D-6BB2-47A7-A367-C6903840951B}</a:tableStyleId>
              </a:tblPr>
              <a:tblGrid>
                <a:gridCol w="188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8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57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noProof="1"/>
                        <a:t>Component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19050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noProof="1"/>
                        <a:t>Weighted sum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19050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noProof="1"/>
                        <a:t>Formula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19050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noProof="1"/>
                        <a:t>Result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933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noProof="1"/>
                        <a:t>Unadjusted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UAW 9 + UUCW 125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UUCP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134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156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noProof="1"/>
                        <a:t>Technical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Σ(Ti × weight) = 39.5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0.6 + 0.01T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TCF = 0.995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noProof="1"/>
                        <a:t>Environment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Σ(Ei × weight) = 18.5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1.4 - 0.03E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ECF = 0.845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978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noProof="1"/>
                        <a:t>Adjusted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19050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134 × .995 × .845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19050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UCP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19050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1"/>
                        <a:t>112.66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19050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0FD52F-B4DD-D81B-E7D0-0198C1ACEC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14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823491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>
            <a:extLst>
              <a:ext uri="{FF2B5EF4-FFF2-40B4-BE49-F238E27FC236}">
                <a16:creationId xmlns:a16="http://schemas.microsoft.com/office/drawing/2014/main" id="{B2C9CDCF-AB92-4DE2-9150-FFDF0475C073}"/>
              </a:ext>
            </a:extLst>
          </p:cNvPr>
          <p:cNvSpPr>
            <a:spLocks noGrp="1"/>
          </p:cNvSpPr>
          <p:nvPr/>
        </p:nvSpPr>
        <p:spPr>
          <a:xfrm>
            <a:off x="348833" y="1020969"/>
            <a:ext cx="866268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1" noProof="1">
                <a:solidFill>
                  <a:srgbClr val="666666"/>
                </a:solidFill>
              </a:rPr>
              <a:t>3 members × 56 h = 168 h; the default factor predicts 2,253 h. (Kamthan, 2026b)</a:t>
            </a:r>
          </a:p>
        </p:txBody>
      </p:sp>
      <p:sp>
        <p:nvSpPr>
          <p:cNvPr id="202" name="Google Shape;202;p14">
            <a:extLst>
              <a:ext uri="{FF2B5EF4-FFF2-40B4-BE49-F238E27FC236}">
                <a16:creationId xmlns:a16="http://schemas.microsoft.com/office/drawing/2014/main" id="{0BE3D6CB-8ED0-4CC1-AA60-D3E1DC2457D5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203" name="Google Shape;203;p14">
            <a:extLst>
              <a:ext uri="{FF2B5EF4-FFF2-40B4-BE49-F238E27FC236}">
                <a16:creationId xmlns:a16="http://schemas.microsoft.com/office/drawing/2014/main" id="{62084C8D-76B2-485C-A722-2A6A4A788F55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Problem 9: Effort Comparison</a:t>
            </a:r>
          </a:p>
        </p:txBody>
      </p:sp>
      <p:graphicFrame>
        <p:nvGraphicFramePr>
          <p:cNvPr id="218" name="Google Shape;204;p14"/>
          <p:cNvGraphicFramePr/>
          <p:nvPr>
            <p:extLst>
              <p:ext uri="{D42A27DB-BD31-4B8C-83A1-F6EECF244321}">
                <p14:modId xmlns:p14="http://schemas.microsoft.com/office/powerpoint/2010/main" val="1484726417"/>
              </p:ext>
            </p:extLst>
          </p:nvPr>
        </p:nvGraphicFramePr>
        <p:xfrm>
          <a:off x="589680" y="1727893"/>
          <a:ext cx="3173875" cy="4510343"/>
        </p:xfrm>
        <a:graphic>
          <a:graphicData uri="http://schemas.openxmlformats.org/drawingml/2006/table">
            <a:tbl>
              <a:tblPr>
                <a:tableStyleId>{EFFB486D-6BB2-47A7-A367-C6903840951B}</a:tableStyleId>
              </a:tblPr>
              <a:tblGrid>
                <a:gridCol w="212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000">
                <a:tc gridSpan="2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noProof="1">
                          <a:solidFill>
                            <a:srgbClr val="34495E"/>
                          </a:solidFill>
                        </a:rPr>
                        <a:t>⏱ Effort Summary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6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Adjusted UCP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112.66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6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Productivity factor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20 h/UCP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6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Estimated effort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2,253 h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6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Actual baseline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168 h retrospective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7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noProof="1">
                          <a:solidFill>
                            <a:srgbClr val="555555"/>
                          </a:solidFill>
                        </a:rPr>
                        <a:t>Observed factor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168 ÷ 112.66 = 1.49 h/UCP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7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noProof="1">
                          <a:solidFill>
                            <a:srgbClr val="555555"/>
                          </a:solidFill>
                        </a:rPr>
                        <a:t>Estimate / actual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13.41×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7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noProof="1">
                          <a:solidFill>
                            <a:srgbClr val="555555"/>
                          </a:solidFill>
                        </a:rPr>
                        <a:t>Actual formula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3 × 56 h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6" name="Google Shape;206;p14">
            <a:extLst>
              <a:ext uri="{FF2B5EF4-FFF2-40B4-BE49-F238E27FC236}">
                <a16:creationId xmlns:a16="http://schemas.microsoft.com/office/drawing/2014/main" id="{E2843366-7E21-4391-A4EA-52B063CFAF51}"/>
              </a:ext>
            </a:extLst>
          </p:cNvPr>
          <p:cNvSpPr>
            <a:spLocks noGrp="1"/>
          </p:cNvSpPr>
          <p:nvPr/>
        </p:nvSpPr>
        <p:spPr>
          <a:xfrm>
            <a:off x="4125022" y="2725635"/>
            <a:ext cx="307200" cy="31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83A4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noProof="1"/>
          </a:p>
        </p:txBody>
      </p:sp>
      <p:sp>
        <p:nvSpPr>
          <p:cNvPr id="208" name="Google Shape;208;p14">
            <a:extLst>
              <a:ext uri="{FF2B5EF4-FFF2-40B4-BE49-F238E27FC236}">
                <a16:creationId xmlns:a16="http://schemas.microsoft.com/office/drawing/2014/main" id="{B2E6D2B5-9A58-4D30-AFC8-0A8B51DFE1F6}"/>
              </a:ext>
            </a:extLst>
          </p:cNvPr>
          <p:cNvSpPr>
            <a:spLocks noGrp="1"/>
          </p:cNvSpPr>
          <p:nvPr/>
        </p:nvSpPr>
        <p:spPr>
          <a:xfrm>
            <a:off x="4125022" y="4876820"/>
            <a:ext cx="307200" cy="31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83A4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noProof="1"/>
          </a:p>
        </p:txBody>
      </p:sp>
      <p:sp>
        <p:nvSpPr>
          <p:cNvPr id="209" name="Google Shape;209;p14">
            <a:extLst>
              <a:ext uri="{FF2B5EF4-FFF2-40B4-BE49-F238E27FC236}">
                <a16:creationId xmlns:a16="http://schemas.microsoft.com/office/drawing/2014/main" id="{39A7EF1D-E765-4182-8194-1D0ECF40BB71}"/>
              </a:ext>
            </a:extLst>
          </p:cNvPr>
          <p:cNvSpPr>
            <a:spLocks noGrp="1"/>
          </p:cNvSpPr>
          <p:nvPr/>
        </p:nvSpPr>
        <p:spPr>
          <a:xfrm>
            <a:off x="3890475" y="3118900"/>
            <a:ext cx="693600" cy="6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000" i="1" noProof="1">
                <a:solidFill>
                  <a:srgbClr val="666666"/>
                </a:solidFill>
              </a:rPr>
              <a:t>Estimate vs. retrospective</a:t>
            </a:r>
          </a:p>
        </p:txBody>
      </p:sp>
      <p:pic>
        <p:nvPicPr>
          <p:cNvPr id="222" name="Picture 2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680173" y="1727893"/>
            <a:ext cx="4000499" cy="2040500"/>
          </a:xfrm>
          <a:prstGeom prst="rect">
            <a:avLst/>
          </a:prstGeom>
        </p:spPr>
      </p:pic>
      <p:pic>
        <p:nvPicPr>
          <p:cNvPr id="223" name="Picture 2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635147" y="4144000"/>
            <a:ext cx="4000500" cy="178304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AC7E58-6034-8B4D-CE33-F96DCEC9F3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15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701700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>
            <a:extLst>
              <a:ext uri="{FF2B5EF4-FFF2-40B4-BE49-F238E27FC236}">
                <a16:creationId xmlns:a16="http://schemas.microsoft.com/office/drawing/2014/main" id="{B2C9CDCF-AB92-4DE2-9150-FFDF0475C073}"/>
              </a:ext>
            </a:extLst>
          </p:cNvPr>
          <p:cNvSpPr>
            <a:spLocks noGrp="1"/>
          </p:cNvSpPr>
          <p:nvPr/>
        </p:nvSpPr>
        <p:spPr>
          <a:xfrm>
            <a:off x="774225" y="930960"/>
            <a:ext cx="76197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1" noProof="1">
                <a:solidFill>
                  <a:srgbClr val="666666"/>
                </a:solidFill>
              </a:rPr>
              <a:t>Scatter → skewness check → Spearman: larger classes tend to be more complex. (Kamthan, 2026c, 2026d)</a:t>
            </a:r>
          </a:p>
        </p:txBody>
      </p:sp>
      <p:sp>
        <p:nvSpPr>
          <p:cNvPr id="202" name="Google Shape;202;p14">
            <a:extLst>
              <a:ext uri="{FF2B5EF4-FFF2-40B4-BE49-F238E27FC236}">
                <a16:creationId xmlns:a16="http://schemas.microsoft.com/office/drawing/2014/main" id="{0BE3D6CB-8ED0-4CC1-AA60-D3E1DC2457D5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203" name="Google Shape;203;p14">
            <a:extLst>
              <a:ext uri="{FF2B5EF4-FFF2-40B4-BE49-F238E27FC236}">
                <a16:creationId xmlns:a16="http://schemas.microsoft.com/office/drawing/2014/main" id="{62084C8D-76B2-485C-A722-2A6A4A788F55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Problem 10: Scatter Plot</a:t>
            </a:r>
          </a:p>
        </p:txBody>
      </p:sp>
      <p:graphicFrame>
        <p:nvGraphicFramePr>
          <p:cNvPr id="218" name="Google Shape;204;p14"/>
          <p:cNvGraphicFramePr/>
          <p:nvPr>
            <p:extLst>
              <p:ext uri="{D42A27DB-BD31-4B8C-83A1-F6EECF244321}">
                <p14:modId xmlns:p14="http://schemas.microsoft.com/office/powerpoint/2010/main" val="1060151490"/>
              </p:ext>
            </p:extLst>
          </p:nvPr>
        </p:nvGraphicFramePr>
        <p:xfrm>
          <a:off x="589680" y="1885244"/>
          <a:ext cx="3173875" cy="4248568"/>
        </p:xfrm>
        <a:graphic>
          <a:graphicData uri="http://schemas.openxmlformats.org/drawingml/2006/table">
            <a:tbl>
              <a:tblPr>
                <a:tableStyleId>{EFFB486D-6BB2-47A7-A367-C6903840951B}</a:tableStyleId>
              </a:tblPr>
              <a:tblGrid>
                <a:gridCol w="1927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6467">
                <a:tc gridSpan="2"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noProof="1">
                          <a:solidFill>
                            <a:srgbClr val="34495E"/>
                          </a:solidFill>
                        </a:rPr>
                        <a:t>📈 Correlation Summary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2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Observations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23 classes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2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Spearman ρ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0.9549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2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Lecture label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Almost perfect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2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Pearson sensitivity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0.9805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694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noProof="1">
                          <a:solidFill>
                            <a:srgbClr val="555555"/>
                          </a:solidFill>
                        </a:rPr>
                        <a:t>Regression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y=.2306x+1.389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694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b="1" noProof="1">
                          <a:solidFill>
                            <a:srgbClr val="555555"/>
                          </a:solidFill>
                        </a:rPr>
                        <a:t>Skewness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noProof="1">
                          <a:solidFill>
                            <a:srgbClr val="555555"/>
                          </a:solidFill>
                        </a:rPr>
                        <a:t>LSLOC 2.06; WMC 2.37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247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noProof="1">
                          <a:solidFill>
                            <a:srgbClr val="555555"/>
                          </a:solidFill>
                        </a:rPr>
                        <a:t>Direction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noProof="1">
                          <a:solidFill>
                            <a:srgbClr val="555555"/>
                          </a:solidFill>
                        </a:rPr>
                        <a:t>Positive monotonic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chemeClr val="lt2"/>
                      </a:solidFill>
                      <a:prstDash val="solid"/>
                    </a:lnL>
                    <a:lnR w="9525" cmpd="sng">
                      <a:solidFill>
                        <a:schemeClr val="lt2"/>
                      </a:solidFill>
                      <a:prstDash val="solid"/>
                    </a:lnR>
                    <a:lnT w="9525" cmpd="sng">
                      <a:solidFill>
                        <a:schemeClr val="lt2"/>
                      </a:solidFill>
                      <a:prstDash val="solid"/>
                    </a:lnT>
                    <a:lnB w="9525" cmpd="sng">
                      <a:solidFill>
                        <a:schemeClr val="lt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6" name="Google Shape;206;p14">
            <a:extLst>
              <a:ext uri="{FF2B5EF4-FFF2-40B4-BE49-F238E27FC236}">
                <a16:creationId xmlns:a16="http://schemas.microsoft.com/office/drawing/2014/main" id="{E2843366-7E21-4391-A4EA-52B063CFAF51}"/>
              </a:ext>
            </a:extLst>
          </p:cNvPr>
          <p:cNvSpPr>
            <a:spLocks noGrp="1"/>
          </p:cNvSpPr>
          <p:nvPr/>
        </p:nvSpPr>
        <p:spPr>
          <a:xfrm>
            <a:off x="4122894" y="2632652"/>
            <a:ext cx="307200" cy="31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83A4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noProof="1"/>
          </a:p>
        </p:txBody>
      </p:sp>
      <p:sp>
        <p:nvSpPr>
          <p:cNvPr id="208" name="Google Shape;208;p14">
            <a:extLst>
              <a:ext uri="{FF2B5EF4-FFF2-40B4-BE49-F238E27FC236}">
                <a16:creationId xmlns:a16="http://schemas.microsoft.com/office/drawing/2014/main" id="{B2E6D2B5-9A58-4D30-AFC8-0A8B51DFE1F6}"/>
              </a:ext>
            </a:extLst>
          </p:cNvPr>
          <p:cNvSpPr>
            <a:spLocks noGrp="1"/>
          </p:cNvSpPr>
          <p:nvPr/>
        </p:nvSpPr>
        <p:spPr>
          <a:xfrm>
            <a:off x="4125022" y="4831478"/>
            <a:ext cx="307200" cy="31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83A4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noProof="1"/>
          </a:p>
        </p:txBody>
      </p:sp>
      <p:sp>
        <p:nvSpPr>
          <p:cNvPr id="209" name="Google Shape;209;p14">
            <a:extLst>
              <a:ext uri="{FF2B5EF4-FFF2-40B4-BE49-F238E27FC236}">
                <a16:creationId xmlns:a16="http://schemas.microsoft.com/office/drawing/2014/main" id="{39A7EF1D-E765-4182-8194-1D0ECF40BB71}"/>
              </a:ext>
            </a:extLst>
          </p:cNvPr>
          <p:cNvSpPr>
            <a:spLocks noGrp="1"/>
          </p:cNvSpPr>
          <p:nvPr/>
        </p:nvSpPr>
        <p:spPr>
          <a:xfrm>
            <a:off x="3890475" y="3118900"/>
            <a:ext cx="693600" cy="6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000" i="1" noProof="1">
                <a:solidFill>
                  <a:srgbClr val="666666"/>
                </a:solidFill>
              </a:rPr>
              <a:t>23 class observations</a:t>
            </a:r>
          </a:p>
        </p:txBody>
      </p:sp>
      <p:pic>
        <p:nvPicPr>
          <p:cNvPr id="222" name="Picture 2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680173" y="1885244"/>
            <a:ext cx="4000499" cy="2009422"/>
          </a:xfrm>
          <a:prstGeom prst="rect">
            <a:avLst/>
          </a:prstGeom>
        </p:spPr>
      </p:pic>
      <p:pic>
        <p:nvPicPr>
          <p:cNvPr id="223" name="Picture 2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680173" y="4144000"/>
            <a:ext cx="4000500" cy="178304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BD8BE8-7F17-28C3-00EF-74D0499D68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16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701700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">
            <a:extLst>
              <a:ext uri="{FF2B5EF4-FFF2-40B4-BE49-F238E27FC236}">
                <a16:creationId xmlns:a16="http://schemas.microsoft.com/office/drawing/2014/main" id="{2400A4D5-4486-4812-88FE-F71CD2C5C3B6}"/>
              </a:ext>
            </a:extLst>
          </p:cNvPr>
          <p:cNvSpPr>
            <a:spLocks noGrp="1"/>
          </p:cNvSpPr>
          <p:nvPr/>
        </p:nvSpPr>
        <p:spPr>
          <a:xfrm>
            <a:off x="240635" y="975081"/>
            <a:ext cx="866268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1" noProof="1">
                <a:solidFill>
                  <a:srgbClr val="666666"/>
                </a:solidFill>
              </a:rPr>
              <a:t>The association is almost perfect, not causal. (Kamthan, 2026c)</a:t>
            </a:r>
          </a:p>
        </p:txBody>
      </p:sp>
      <p:sp>
        <p:nvSpPr>
          <p:cNvPr id="232" name="Google Shape;232;p17">
            <a:extLst>
              <a:ext uri="{FF2B5EF4-FFF2-40B4-BE49-F238E27FC236}">
                <a16:creationId xmlns:a16="http://schemas.microsoft.com/office/drawing/2014/main" id="{753E3577-FAAB-49D1-927F-D464FCC9E352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233" name="Google Shape;233;p17">
            <a:extLst>
              <a:ext uri="{FF2B5EF4-FFF2-40B4-BE49-F238E27FC236}">
                <a16:creationId xmlns:a16="http://schemas.microsoft.com/office/drawing/2014/main" id="{15511DD6-BA17-4FCE-86AA-751F576C0C67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100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Problem 10: Correlation Conclusion</a:t>
            </a:r>
          </a:p>
        </p:txBody>
      </p:sp>
      <p:sp>
        <p:nvSpPr>
          <p:cNvPr id="234" name="Google Shape;234;p17">
            <a:extLst>
              <a:ext uri="{FF2B5EF4-FFF2-40B4-BE49-F238E27FC236}">
                <a16:creationId xmlns:a16="http://schemas.microsoft.com/office/drawing/2014/main" id="{0B1C5E56-0155-4CD1-A767-CD0C218D2BDA}"/>
              </a:ext>
            </a:extLst>
          </p:cNvPr>
          <p:cNvSpPr>
            <a:spLocks noGrp="1"/>
          </p:cNvSpPr>
          <p:nvPr/>
        </p:nvSpPr>
        <p:spPr>
          <a:xfrm>
            <a:off x="508025" y="2831062"/>
            <a:ext cx="8127900" cy="61660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rgbClr val="555555"/>
                </a:solidFill>
              </a:rPr>
              <a:t>ρ = 0.9549 | Pearson sensitivity r = 0.9805 | n = 23</a:t>
            </a:r>
          </a:p>
        </p:txBody>
      </p:sp>
      <p:sp>
        <p:nvSpPr>
          <p:cNvPr id="235" name="Google Shape;235;p17">
            <a:extLst>
              <a:ext uri="{FF2B5EF4-FFF2-40B4-BE49-F238E27FC236}">
                <a16:creationId xmlns:a16="http://schemas.microsoft.com/office/drawing/2014/main" id="{44ED98F6-D1AC-4AB2-8C23-89BF7101954B}"/>
              </a:ext>
            </a:extLst>
          </p:cNvPr>
          <p:cNvSpPr>
            <a:spLocks noGrp="1"/>
          </p:cNvSpPr>
          <p:nvPr/>
        </p:nvSpPr>
        <p:spPr>
          <a:xfrm>
            <a:off x="379200" y="1746999"/>
            <a:ext cx="8127900" cy="888900"/>
          </a:xfrm>
          <a:prstGeom prst="roundRect">
            <a:avLst>
              <a:gd name="adj" fmla="val 0"/>
            </a:avLst>
          </a:prstGeom>
          <a:noFill/>
          <a:ln w="9525" cmpd="sng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noProof="1">
                <a:solidFill>
                  <a:srgbClr val="555555"/>
                </a:solidFill>
              </a:rPr>
              <a:t>ρ = corr(rank(LSLOC), rank(WMC)); ties use average ranks</a:t>
            </a:r>
          </a:p>
        </p:txBody>
      </p:sp>
      <p:sp>
        <p:nvSpPr>
          <p:cNvPr id="236" name="Google Shape;236;p17">
            <a:extLst>
              <a:ext uri="{FF2B5EF4-FFF2-40B4-BE49-F238E27FC236}">
                <a16:creationId xmlns:a16="http://schemas.microsoft.com/office/drawing/2014/main" id="{033DB6B9-D92B-47FE-A38B-123476144381}"/>
              </a:ext>
            </a:extLst>
          </p:cNvPr>
          <p:cNvSpPr>
            <a:spLocks noGrp="1"/>
          </p:cNvSpPr>
          <p:nvPr/>
        </p:nvSpPr>
        <p:spPr>
          <a:xfrm>
            <a:off x="682311" y="1551836"/>
            <a:ext cx="1953900" cy="3708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rgbClr val="555555"/>
                </a:solidFill>
              </a:rPr>
              <a:t>SPEARMAN</a:t>
            </a:r>
          </a:p>
        </p:txBody>
      </p:sp>
      <p:sp>
        <p:nvSpPr>
          <p:cNvPr id="237" name="Google Shape;237;p17">
            <a:extLst>
              <a:ext uri="{FF2B5EF4-FFF2-40B4-BE49-F238E27FC236}">
                <a16:creationId xmlns:a16="http://schemas.microsoft.com/office/drawing/2014/main" id="{35F3B0A2-FA03-406B-9138-4B9C8E94298C}"/>
              </a:ext>
            </a:extLst>
          </p:cNvPr>
          <p:cNvSpPr>
            <a:spLocks noGrp="1"/>
          </p:cNvSpPr>
          <p:nvPr/>
        </p:nvSpPr>
        <p:spPr>
          <a:xfrm>
            <a:off x="508025" y="3790433"/>
            <a:ext cx="3549300" cy="213660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noProof="1">
                <a:solidFill>
                  <a:srgbClr val="F1C40F"/>
                </a:solidFill>
              </a:rPr>
              <a:t>✅ Sensible Conclusion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b="1" noProof="1">
              <a:solidFill>
                <a:srgbClr val="F1C40F"/>
              </a:solidFill>
            </a:endParaRPr>
          </a:p>
          <a:p>
            <a:pPr marL="171450" lvl="0" indent="-1714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555555"/>
                </a:solidFill>
              </a:rPr>
              <a:t>Both distributions are strongly right-skewed, so Spearman is selected under the lecture rule for non-normal data. </a:t>
            </a:r>
          </a:p>
          <a:p>
            <a:pPr marL="171450" lvl="0" indent="-1714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555555"/>
                </a:solidFill>
              </a:rPr>
              <a:t>Its value confirms an almost-perfect positive monotonic relationship.</a:t>
            </a:r>
          </a:p>
        </p:txBody>
      </p:sp>
      <p:sp>
        <p:nvSpPr>
          <p:cNvPr id="238" name="Google Shape;238;p17">
            <a:extLst>
              <a:ext uri="{FF2B5EF4-FFF2-40B4-BE49-F238E27FC236}">
                <a16:creationId xmlns:a16="http://schemas.microsoft.com/office/drawing/2014/main" id="{C057174F-DD3B-41EA-891F-62D94348B221}"/>
              </a:ext>
            </a:extLst>
          </p:cNvPr>
          <p:cNvSpPr>
            <a:spLocks noGrp="1"/>
          </p:cNvSpPr>
          <p:nvPr/>
        </p:nvSpPr>
        <p:spPr>
          <a:xfrm>
            <a:off x="4828975" y="3791750"/>
            <a:ext cx="3936900" cy="213529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noProof="1">
                <a:solidFill>
                  <a:srgbClr val="E74C3C"/>
                </a:solidFill>
              </a:rPr>
              <a:t>⚠️ Limitation &amp; Action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b="1" noProof="1">
              <a:solidFill>
                <a:srgbClr val="E74C3C"/>
              </a:solidFill>
            </a:endParaRPr>
          </a:p>
          <a:p>
            <a:pPr marL="171450" marR="0" lvl="0" indent="-1714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555555"/>
                </a:solidFill>
              </a:rPr>
              <a:t>The result is codebase-specific and size-confounded; it does not prove that adding lines causes complexity. </a:t>
            </a:r>
          </a:p>
          <a:p>
            <a:pPr marL="171450" marR="0" lvl="0" indent="-1714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555555"/>
                </a:solidFill>
              </a:rPr>
              <a:t>Prioritize classes that are both large and above the fitted line—especially ClientDashboardPanel.</a:t>
            </a:r>
          </a:p>
        </p:txBody>
      </p:sp>
      <p:sp>
        <p:nvSpPr>
          <p:cNvPr id="239" name="Google Shape;239;p17">
            <a:extLst>
              <a:ext uri="{FF2B5EF4-FFF2-40B4-BE49-F238E27FC236}">
                <a16:creationId xmlns:a16="http://schemas.microsoft.com/office/drawing/2014/main" id="{A3E4FADE-708C-4FD9-90B3-571191AE0449}"/>
              </a:ext>
            </a:extLst>
          </p:cNvPr>
          <p:cNvSpPr>
            <a:spLocks noGrp="1"/>
          </p:cNvSpPr>
          <p:nvPr/>
        </p:nvSpPr>
        <p:spPr>
          <a:xfrm>
            <a:off x="4249350" y="4578500"/>
            <a:ext cx="387600" cy="370800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E6B8AF"/>
              </a:gs>
              <a:gs pos="100000">
                <a:srgbClr val="D9EAD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noProof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EC48F7-B7DC-3DE8-1C8E-FD5282B3A4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17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43371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>
            <a:extLst>
              <a:ext uri="{FF2B5EF4-FFF2-40B4-BE49-F238E27FC236}">
                <a16:creationId xmlns:a16="http://schemas.microsoft.com/office/drawing/2014/main" id="{E320CCC7-0255-41A0-9934-AD9AE2A7894E}"/>
              </a:ext>
            </a:extLst>
          </p:cNvPr>
          <p:cNvSpPr>
            <a:spLocks noGrp="1"/>
          </p:cNvSpPr>
          <p:nvPr/>
        </p:nvSpPr>
        <p:spPr>
          <a:xfrm>
            <a:off x="240660" y="994665"/>
            <a:ext cx="866268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1" noProof="1">
                <a:solidFill>
                  <a:srgbClr val="666666"/>
                </a:solidFill>
              </a:rPr>
              <a:t>D1 GQM revised to match the evidence collected in D2–D3.</a:t>
            </a:r>
          </a:p>
        </p:txBody>
      </p:sp>
      <p:sp>
        <p:nvSpPr>
          <p:cNvPr id="189" name="Google Shape;189;p13">
            <a:extLst>
              <a:ext uri="{FF2B5EF4-FFF2-40B4-BE49-F238E27FC236}">
                <a16:creationId xmlns:a16="http://schemas.microsoft.com/office/drawing/2014/main" id="{2284FF1A-C559-4F58-9D04-396615F981FE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190" name="Google Shape;190;p13">
            <a:extLst>
              <a:ext uri="{FF2B5EF4-FFF2-40B4-BE49-F238E27FC236}">
                <a16:creationId xmlns:a16="http://schemas.microsoft.com/office/drawing/2014/main" id="{B065B529-281F-4289-8E80-EF6332E700AF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Final Synthesis: Did We Achieve the Goal?</a:t>
            </a:r>
          </a:p>
        </p:txBody>
      </p:sp>
      <p:sp>
        <p:nvSpPr>
          <p:cNvPr id="191" name="Google Shape;191;p13">
            <a:extLst>
              <a:ext uri="{FF2B5EF4-FFF2-40B4-BE49-F238E27FC236}">
                <a16:creationId xmlns:a16="http://schemas.microsoft.com/office/drawing/2014/main" id="{559B967F-C79E-4A36-80E8-5F529E6E5E5E}"/>
              </a:ext>
            </a:extLst>
          </p:cNvPr>
          <p:cNvSpPr>
            <a:spLocks noGrp="1"/>
          </p:cNvSpPr>
          <p:nvPr/>
        </p:nvSpPr>
        <p:spPr>
          <a:xfrm>
            <a:off x="581025" y="1545888"/>
            <a:ext cx="7981950" cy="971265"/>
          </a:xfrm>
          <a:prstGeom prst="roundRect">
            <a:avLst>
              <a:gd name="adj" fmla="val 0"/>
            </a:avLst>
          </a:prstGeom>
          <a:solidFill>
            <a:srgbClr val="F7F3F4"/>
          </a:solidFill>
          <a:ln w="11430">
            <a:solidFill>
              <a:srgbClr val="D8B9C2"/>
            </a:solidFill>
            <a:prstDash val="solid"/>
          </a:ln>
        </p:spPr>
        <p:txBody>
          <a:bodyPr spcFirstLastPara="1" wrap="square" lIns="152400" tIns="123825" rIns="152400" bIns="104775" anchor="t">
            <a:noAutofit/>
          </a:bodyPr>
          <a:lstStyle/>
          <a:p>
            <a:pPr>
              <a:lnSpc>
                <a:spcPct val="112000"/>
              </a:lnSpc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b="1" noProof="1">
                <a:solidFill>
                  <a:srgbClr val="8C1531"/>
                </a:solidFill>
                <a:latin typeface="Arial"/>
                <a:ea typeface="Arial"/>
                <a:cs typeface="Arial"/>
              </a:rPr>
              <a:t>REVISED GQM GOAL</a:t>
            </a:r>
          </a:p>
          <a:p>
            <a:pPr>
              <a:lnSpc>
                <a:spcPct val="112000"/>
              </a:lnSpc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Evaluate and improve iBank’s maintainability and evolvability by keeping the Java code readable, logically simple, loosely coupled, cohesive, and predictably sized—measured by D3.</a:t>
            </a:r>
          </a:p>
        </p:txBody>
      </p:sp>
      <p:sp>
        <p:nvSpPr>
          <p:cNvPr id="192" name="Google Shape;192;p13">
            <a:extLst>
              <a:ext uri="{FF2B5EF4-FFF2-40B4-BE49-F238E27FC236}">
                <a16:creationId xmlns:a16="http://schemas.microsoft.com/office/drawing/2014/main" id="{F7B55E16-3347-4350-BAEA-4DFEA237549C}"/>
              </a:ext>
            </a:extLst>
          </p:cNvPr>
          <p:cNvSpPr>
            <a:spLocks noGrp="1"/>
          </p:cNvSpPr>
          <p:nvPr/>
        </p:nvSpPr>
        <p:spPr>
          <a:xfrm>
            <a:off x="565230" y="4674343"/>
            <a:ext cx="8013540" cy="895350"/>
          </a:xfrm>
          <a:prstGeom prst="roundRect">
            <a:avLst>
              <a:gd name="adj" fmla="val 0"/>
            </a:avLst>
          </a:prstGeom>
          <a:solidFill>
            <a:srgbClr val="F1E3E7"/>
          </a:solidFill>
          <a:ln w="11430">
            <a:solidFill>
              <a:srgbClr val="C58F9F"/>
            </a:solidFill>
            <a:prstDash val="solid"/>
          </a:ln>
        </p:spPr>
        <p:txBody>
          <a:bodyPr spcFirstLastPara="1" wrap="square" lIns="152400" tIns="123825" rIns="152400" bIns="104775" anchor="t">
            <a:noAutofit/>
          </a:bodyPr>
          <a:lstStyle/>
          <a:p>
            <a:pPr>
              <a:lnSpc>
                <a:spcPct val="112000"/>
              </a:lnSpc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b="1" noProof="1">
                <a:solidFill>
                  <a:srgbClr val="8C1531"/>
                </a:solidFill>
                <a:latin typeface="Arial"/>
                <a:ea typeface="Arial"/>
                <a:cs typeface="Arial"/>
              </a:rPr>
              <a:t>OVERALL — GOAL ACHIEVED AT SYSTEM LEVEL</a:t>
            </a:r>
          </a:p>
          <a:p>
            <a:pPr>
              <a:lnSpc>
                <a:spcPct val="112000"/>
              </a:lnSpc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Readable, loosely coupled, and generally simple. Next: refactor onOk and high-LCOM* UI classes; calibrate UCP productivity.</a:t>
            </a:r>
          </a:p>
        </p:txBody>
      </p:sp>
      <p:sp>
        <p:nvSpPr>
          <p:cNvPr id="193" name="Google Shape;193;p13">
            <a:extLst>
              <a:ext uri="{FF2B5EF4-FFF2-40B4-BE49-F238E27FC236}">
                <a16:creationId xmlns:a16="http://schemas.microsoft.com/office/drawing/2014/main" id="{B196DAC3-4DCD-468B-A79E-EC33226351D7}"/>
              </a:ext>
            </a:extLst>
          </p:cNvPr>
          <p:cNvSpPr>
            <a:spLocks noGrp="1"/>
          </p:cNvSpPr>
          <p:nvPr/>
        </p:nvSpPr>
        <p:spPr>
          <a:xfrm>
            <a:off x="549435" y="2646344"/>
            <a:ext cx="8045130" cy="1898808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 w="11430">
            <a:solidFill>
              <a:srgbClr val="D7D7D7"/>
            </a:solidFill>
            <a:prstDash val="solid"/>
          </a:ln>
        </p:spPr>
        <p:txBody>
          <a:bodyPr spcFirstLastPara="1" wrap="square" lIns="152400" tIns="123825" rIns="152400" bIns="104775" anchor="t">
            <a:noAutofit/>
          </a:bodyPr>
          <a:lstStyle/>
          <a:p>
            <a:pPr>
              <a:lnSpc>
                <a:spcPct val="112000"/>
              </a:lnSpc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b="1" noProof="1">
                <a:solidFill>
                  <a:srgbClr val="8C1531"/>
                </a:solidFill>
                <a:latin typeface="Arial"/>
                <a:ea typeface="Arial"/>
                <a:cs typeface="Arial"/>
              </a:rPr>
              <a:t>STRENGTHS &amp; IMPROVEMENT OPPORTUNITIES</a:t>
            </a:r>
          </a:p>
          <a:p>
            <a:pPr>
              <a:lnSpc>
                <a:spcPct val="112000"/>
              </a:lnSpc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✓ Readability — BLR 15.11%, within the 15–25% target.</a:t>
            </a:r>
          </a:p>
          <a:p>
            <a:pPr>
              <a:lnSpc>
                <a:spcPct val="112000"/>
              </a:lnSpc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✓ Simplicity — 238/239 methods are low-band; no WMC &gt; 100.</a:t>
            </a:r>
          </a:p>
          <a:p>
            <a:pPr>
              <a:lnSpc>
                <a:spcPct val="112000"/>
              </a:lnSpc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✓ Low coupling — system CF = 0.1183.</a:t>
            </a:r>
          </a:p>
          <a:p>
            <a:pPr>
              <a:lnSpc>
                <a:spcPct val="112000"/>
              </a:lnSpc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⚠ UI design — WMC 99 and 8 LCOM* hotspots need focused refactoring.</a:t>
            </a:r>
          </a:p>
          <a:p>
            <a:pPr>
              <a:lnSpc>
                <a:spcPct val="112000"/>
              </a:lnSpc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◇ Planning baseline — 1,929 LSLOC and 112.66 UCP.</a:t>
            </a:r>
          </a:p>
          <a:p>
            <a:pPr>
              <a:lnSpc>
                <a:spcPct val="112000"/>
              </a:lnSpc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◇ Size signal — Spearman ρ = 0.9549; monitor large classes.</a:t>
            </a:r>
          </a:p>
        </p:txBody>
      </p:sp>
      <p:sp>
        <p:nvSpPr>
          <p:cNvPr id="194" name="Google Shape;194;p13">
            <a:extLst>
              <a:ext uri="{FF2B5EF4-FFF2-40B4-BE49-F238E27FC236}">
                <a16:creationId xmlns:a16="http://schemas.microsoft.com/office/drawing/2014/main" id="{065F34BF-E11C-4F99-9D94-26DBD1F3C6D7}"/>
              </a:ext>
            </a:extLst>
          </p:cNvPr>
          <p:cNvSpPr>
            <a:spLocks noGrp="1"/>
          </p:cNvSpPr>
          <p:nvPr/>
        </p:nvSpPr>
        <p:spPr>
          <a:xfrm>
            <a:off x="549435" y="5863335"/>
            <a:ext cx="7429500" cy="365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200" i="1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Repository (commit e616e59): </a:t>
            </a:r>
            <a:r>
              <a:rPr lang="en-US" sz="1200" i="1" u="sng" noProof="1">
                <a:solidFill>
                  <a:srgbClr val="1F5AA6"/>
                </a:solidFill>
                <a:latin typeface="Arial"/>
                <a:ea typeface="Arial"/>
                <a:cs typeface="Arial"/>
                <a:hlinkClick r:id="rId4"/>
              </a:rPr>
              <a:t>https://github.com/xenobinary/6611-project/tree/master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0A5F36-BA53-BB74-F589-2120434122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18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53875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>
            <a:extLst>
              <a:ext uri="{FF2B5EF4-FFF2-40B4-BE49-F238E27FC236}">
                <a16:creationId xmlns:a16="http://schemas.microsoft.com/office/drawing/2014/main" id="{767D73C2-B580-4F9A-A0C5-AE649C2D6D2D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245" name="Google Shape;245;p18">
            <a:extLst>
              <a:ext uri="{FF2B5EF4-FFF2-40B4-BE49-F238E27FC236}">
                <a16:creationId xmlns:a16="http://schemas.microsoft.com/office/drawing/2014/main" id="{9BE66887-2879-4822-A6D7-F5F737F68E39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Appendix: GAI CASTROFF Prompts</a:t>
            </a:r>
          </a:p>
        </p:txBody>
      </p:sp>
      <p:sp>
        <p:nvSpPr>
          <p:cNvPr id="246" name="Google Shape;246;p18">
            <a:extLst>
              <a:ext uri="{FF2B5EF4-FFF2-40B4-BE49-F238E27FC236}">
                <a16:creationId xmlns:a16="http://schemas.microsoft.com/office/drawing/2014/main" id="{16ACEBF1-3A47-4CC3-9AF9-AE0B377649DF}"/>
              </a:ext>
            </a:extLst>
          </p:cNvPr>
          <p:cNvSpPr>
            <a:spLocks noGrp="1"/>
          </p:cNvSpPr>
          <p:nvPr/>
        </p:nvSpPr>
        <p:spPr>
          <a:xfrm>
            <a:off x="304800" y="1295399"/>
            <a:ext cx="2724150" cy="387491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52400" tIns="152400" rIns="152400" bIns="152400" anchor="t">
            <a:no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b="1" noProof="1">
                <a:solidFill>
                  <a:srgbClr val="8C1531"/>
                </a:solidFill>
                <a:latin typeface="Arial"/>
                <a:ea typeface="Arial"/>
                <a:cs typeface="Arial"/>
              </a:rPr>
              <a:t>PROBLEM 7 — COMPLEXITY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350" b="1" noProof="1">
              <a:solidFill>
                <a:srgbClr val="8C1531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C  e616e59 · UCC-J CC1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A  Instructor + classmates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S  Formula → metric → threshold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T  Concise · evidence-based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R  Measurement analyst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O  Reproducible CSV + slides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F  Separate aggregation levels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F  Reject unsupported values</a:t>
            </a:r>
          </a:p>
        </p:txBody>
      </p:sp>
      <p:sp>
        <p:nvSpPr>
          <p:cNvPr id="247" name="Google Shape;247;p18">
            <a:extLst>
              <a:ext uri="{FF2B5EF4-FFF2-40B4-BE49-F238E27FC236}">
                <a16:creationId xmlns:a16="http://schemas.microsoft.com/office/drawing/2014/main" id="{D16F9242-F91B-481C-99D1-2810AE0A185D}"/>
              </a:ext>
            </a:extLst>
          </p:cNvPr>
          <p:cNvSpPr>
            <a:spLocks noGrp="1"/>
          </p:cNvSpPr>
          <p:nvPr/>
        </p:nvSpPr>
        <p:spPr>
          <a:xfrm>
            <a:off x="3209925" y="1295400"/>
            <a:ext cx="2724150" cy="387491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52400" tIns="152400" rIns="152400" bIns="152400" anchor="t">
            <a:no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b="1" noProof="1">
                <a:solidFill>
                  <a:srgbClr val="8C1531"/>
                </a:solidFill>
                <a:latin typeface="Arial"/>
                <a:ea typeface="Arial"/>
                <a:cs typeface="Arial"/>
              </a:rPr>
              <a:t>PROBLEM 8 — OO METRICS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350" b="1" noProof="1">
              <a:solidFill>
                <a:srgbClr val="8C1531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C  Raw WMC · CF excludes inheritance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A  Technical evaluator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S  Conventions → metrics → hotspots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T  Academic · cautious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R  Static-analysis reviewer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O  CSV + qualitative summary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F  Explain N/A · no invented cutoffs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F  Validate with compiler AST</a:t>
            </a:r>
          </a:p>
        </p:txBody>
      </p:sp>
      <p:sp>
        <p:nvSpPr>
          <p:cNvPr id="248" name="Google Shape;248;p18">
            <a:extLst>
              <a:ext uri="{FF2B5EF4-FFF2-40B4-BE49-F238E27FC236}">
                <a16:creationId xmlns:a16="http://schemas.microsoft.com/office/drawing/2014/main" id="{4DCE0205-FFEE-4637-9DD2-88577D1D3120}"/>
              </a:ext>
            </a:extLst>
          </p:cNvPr>
          <p:cNvSpPr>
            <a:spLocks noGrp="1"/>
          </p:cNvSpPr>
          <p:nvPr/>
        </p:nvSpPr>
        <p:spPr>
          <a:xfrm>
            <a:off x="6115050" y="1295400"/>
            <a:ext cx="2847975" cy="387491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52400" tIns="152400" rIns="152400" bIns="152400" anchor="t">
            <a:noAutofit/>
          </a:bodyPr>
          <a:lstStyle/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b="1" noProof="1">
                <a:solidFill>
                  <a:srgbClr val="8C1531"/>
                </a:solidFill>
                <a:latin typeface="Arial"/>
                <a:ea typeface="Arial"/>
                <a:cs typeface="Arial"/>
              </a:rPr>
              <a:t>PROBLEMS 9–10 — UCP &amp; CORRELATION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350" b="1" noProof="1">
              <a:solidFill>
                <a:srgbClr val="8C1531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C  Transactions · 20 h/UCP · 23 classes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A  Course marker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S  Inputs → result → limitations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T  Transparent · evidence-based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R  Estimation/statistics analyst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O  UCP tables + scatter + Spearman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F  Distribution-aware · no causality</a:t>
            </a: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F4F4F"/>
                </a:solidFill>
                <a:latin typeface="Arial"/>
                <a:ea typeface="Arial"/>
                <a:cs typeface="Arial"/>
              </a:defRPr>
            </a:pPr>
            <a:r>
              <a:rPr lang="en-US" sz="1350" noProof="1">
                <a:solidFill>
                  <a:srgbClr val="4F4F4F"/>
                </a:solidFill>
                <a:latin typeface="Arial"/>
                <a:ea typeface="Arial"/>
                <a:cs typeface="Arial"/>
              </a:rPr>
              <a:t>F  Verify all CSV results</a:t>
            </a:r>
          </a:p>
        </p:txBody>
      </p:sp>
      <p:sp>
        <p:nvSpPr>
          <p:cNvPr id="253" name="Google Shape;253;p18">
            <a:extLst>
              <a:ext uri="{FF2B5EF4-FFF2-40B4-BE49-F238E27FC236}">
                <a16:creationId xmlns:a16="http://schemas.microsoft.com/office/drawing/2014/main" id="{16535C23-FC9E-4FFF-8186-5019C88F64F3}"/>
              </a:ext>
            </a:extLst>
          </p:cNvPr>
          <p:cNvSpPr>
            <a:spLocks noGrp="1"/>
          </p:cNvSpPr>
          <p:nvPr/>
        </p:nvSpPr>
        <p:spPr>
          <a:xfrm>
            <a:off x="303840" y="5562600"/>
            <a:ext cx="8191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97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Full CASTROFF prompt: </a:t>
            </a:r>
            <a:r>
              <a:rPr lang="en-US" sz="975" u="sng" noProof="1">
                <a:solidFill>
                  <a:srgbClr val="1F5AA6"/>
                </a:solidFill>
                <a:latin typeface="Arial"/>
                <a:ea typeface="Arial"/>
                <a:cs typeface="Arial"/>
                <a:hlinkClick r:id="rId4"/>
              </a:rPr>
              <a:t>GitHub repository</a:t>
            </a:r>
            <a:r>
              <a:rPr lang="en-US" sz="97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 — d3/prompts/delivery3_castroff_prompt.md (see References).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6D0ABE-8447-C0C2-B3BD-E7F45D7F6E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19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997180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">
            <a:extLst>
              <a:ext uri="{FF2B5EF4-FFF2-40B4-BE49-F238E27FC236}">
                <a16:creationId xmlns:a16="http://schemas.microsoft.com/office/drawing/2014/main" id="{BE62F93A-EC27-4C1A-8A3E-A1861300BD4A}"/>
              </a:ext>
            </a:extLst>
          </p:cNvPr>
          <p:cNvSpPr>
            <a:spLocks noGrp="1"/>
          </p:cNvSpPr>
          <p:nvPr/>
        </p:nvSpPr>
        <p:spPr>
          <a:xfrm>
            <a:off x="303840" y="1139220"/>
            <a:ext cx="8662800" cy="429073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[1] Concordia University. (2026). SOEN 6611 Project Description, pp. 7–8.</a:t>
            </a:r>
          </a:p>
          <a:p>
            <a:pPr marL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25" noProof="1">
              <a:solidFill>
                <a:srgbClr val="555555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[2] Kamthan, P. (2026a). Control Flow Structure of Source Code [Lecture slides]. SOEN 6611, Concordia University, pp. 13–20.</a:t>
            </a:r>
          </a:p>
          <a:p>
            <a:pPr marL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25" noProof="1">
              <a:solidFill>
                <a:srgbClr val="555555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[3] Kamthan, P. (2026b). The Estimation of Effort Based on Use Cases [Lecture slides]. SOEN 6611, Concordia University, pp. 5–17.</a:t>
            </a:r>
          </a:p>
          <a:p>
            <a:pPr marL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25" noProof="1">
              <a:solidFill>
                <a:srgbClr val="555555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[4] Kamthan, P. (2026c). Introduction to Analysis of Software Measurement Data [Lecture slides]. SOEN 6611, Concordia University, pp. 42, 46–53.</a:t>
            </a:r>
          </a:p>
          <a:p>
            <a:pPr marL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25" noProof="1">
              <a:solidFill>
                <a:srgbClr val="555555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[5] Kamthan, P. (2026d). Length of Source Code [Lecture slides]. SOEN 6611, Concordia University, pp. 16–20.</a:t>
            </a:r>
          </a:p>
        </p:txBody>
      </p:sp>
      <p:sp>
        <p:nvSpPr>
          <p:cNvPr id="259" name="Google Shape;259;p19">
            <a:extLst>
              <a:ext uri="{FF2B5EF4-FFF2-40B4-BE49-F238E27FC236}">
                <a16:creationId xmlns:a16="http://schemas.microsoft.com/office/drawing/2014/main" id="{8D3D26C1-3D76-4E48-AE59-45D4D41B68D5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260" name="Google Shape;260;p19">
            <a:extLst>
              <a:ext uri="{FF2B5EF4-FFF2-40B4-BE49-F238E27FC236}">
                <a16:creationId xmlns:a16="http://schemas.microsoft.com/office/drawing/2014/main" id="{8D3922DB-0729-4AC5-AE5D-6AC75578C54D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cap="none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References (1/3)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99166C-DF0C-37F4-E656-4D4E6CE190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20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109633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">
            <a:extLst>
              <a:ext uri="{FF2B5EF4-FFF2-40B4-BE49-F238E27FC236}">
                <a16:creationId xmlns:a16="http://schemas.microsoft.com/office/drawing/2014/main" id="{BE62F93A-EC27-4C1A-8A3E-A1861300BD4A}"/>
              </a:ext>
            </a:extLst>
          </p:cNvPr>
          <p:cNvSpPr>
            <a:spLocks noGrp="1"/>
          </p:cNvSpPr>
          <p:nvPr/>
        </p:nvSpPr>
        <p:spPr>
          <a:xfrm>
            <a:off x="303840" y="1126980"/>
            <a:ext cx="8662800" cy="4381998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[6] Kamthan, P. (2026e). Metrics for Classes in Object-Oriented Design [Lecture slides]. SOEN 6611, Concordia University, pp. 11–16, 32, 36–42.</a:t>
            </a:r>
          </a:p>
          <a:p>
            <a:pPr marL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25" noProof="1">
              <a:solidFill>
                <a:srgbClr val="555555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[7] USC CSSE. (2020). Unified Code Counter—Java (UCC-J), Version 2020.01, U.S. Government Edition.</a:t>
            </a:r>
          </a:p>
          <a:p>
            <a:pPr marL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25" noProof="1">
              <a:solidFill>
                <a:srgbClr val="555555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[8] Group C. (2026). iBank Project, commit e616e59.</a:t>
            </a:r>
          </a:p>
          <a:p>
            <a:pPr marL="0" lvl="0" indent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u="sng" noProof="1">
                <a:solidFill>
                  <a:srgbClr val="1F5AA6"/>
                </a:solidFill>
                <a:latin typeface="Arial"/>
                <a:ea typeface="Arial"/>
                <a:cs typeface="Arial"/>
                <a:hlinkClick r:id="rId3"/>
              </a:rPr>
              <a:t>https://github.com/xenobinary/6611-project/tree/master</a:t>
            </a: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25" noProof="1">
              <a:solidFill>
                <a:srgbClr val="555555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[9] McCabe, T. J. (1976). A complexity measure. IEEE Transactions on Software Engineering, SE-2(4), 308–320. </a:t>
            </a:r>
            <a:r>
              <a:rPr lang="en-US" sz="1425" u="sng" noProof="1">
                <a:solidFill>
                  <a:srgbClr val="1F5AA6"/>
                </a:solidFill>
                <a:latin typeface="Arial"/>
                <a:ea typeface="Arial"/>
                <a:cs typeface="Arial"/>
                <a:hlinkClick r:id="rId4"/>
              </a:rPr>
              <a:t>https://doi.org/10.1109/TSE.1976.233837</a:t>
            </a: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25" noProof="1">
              <a:solidFill>
                <a:srgbClr val="555555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[10] Chidamber, S. R., &amp; Kemerer, C. F. (1994). A metrics suite for object-oriented design. IEEE Transactions on Software Engineering, 20(6), 476–493. </a:t>
            </a:r>
            <a:r>
              <a:rPr lang="en-US" sz="1425" u="sng" noProof="1">
                <a:solidFill>
                  <a:srgbClr val="1F5AA6"/>
                </a:solidFill>
                <a:latin typeface="Arial"/>
                <a:ea typeface="Arial"/>
                <a:cs typeface="Arial"/>
                <a:hlinkClick r:id="rId5"/>
              </a:rPr>
              <a:t>https://doi.org/10.1109/32.295895</a:t>
            </a: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59" name="Google Shape;259;p19">
            <a:extLst>
              <a:ext uri="{FF2B5EF4-FFF2-40B4-BE49-F238E27FC236}">
                <a16:creationId xmlns:a16="http://schemas.microsoft.com/office/drawing/2014/main" id="{8D3D26C1-3D76-4E48-AE59-45D4D41B68D5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260" name="Google Shape;260;p19">
            <a:extLst>
              <a:ext uri="{FF2B5EF4-FFF2-40B4-BE49-F238E27FC236}">
                <a16:creationId xmlns:a16="http://schemas.microsoft.com/office/drawing/2014/main" id="{8D3922DB-0729-4AC5-AE5D-6AC75578C54D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cap="none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References (2/3)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49FE30-97AD-5F07-ABEA-16766591CE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21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109633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">
            <a:extLst>
              <a:ext uri="{FF2B5EF4-FFF2-40B4-BE49-F238E27FC236}">
                <a16:creationId xmlns:a16="http://schemas.microsoft.com/office/drawing/2014/main" id="{BE62F93A-EC27-4C1A-8A3E-A1861300BD4A}"/>
              </a:ext>
            </a:extLst>
          </p:cNvPr>
          <p:cNvSpPr>
            <a:spLocks noGrp="1"/>
          </p:cNvSpPr>
          <p:nvPr/>
        </p:nvSpPr>
        <p:spPr>
          <a:xfrm>
            <a:off x="303720" y="1130240"/>
            <a:ext cx="8662800" cy="42997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[11] Brito e Abreu, F., &amp; Carapuça, R. (1994). Object-oriented software engineering: Measuring and controlling the development process. In Proceedings of the 4th International Conference on Software Quality. </a:t>
            </a:r>
            <a:r>
              <a:rPr lang="en-US" sz="1425" u="sng" noProof="1">
                <a:solidFill>
                  <a:srgbClr val="1F5AA6"/>
                </a:solidFill>
                <a:latin typeface="Arial"/>
                <a:ea typeface="Arial"/>
                <a:cs typeface="Arial"/>
                <a:hlinkClick r:id="rId3"/>
              </a:rPr>
              <a:t>https://zenodo.org/record/1217609</a:t>
            </a: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25" noProof="1">
              <a:solidFill>
                <a:srgbClr val="555555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[12] Henderson-Sellers, B. (1996). Object-oriented metrics: Measures of complexity. Prentice Hall.</a:t>
            </a:r>
          </a:p>
          <a:p>
            <a:pPr marL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25" noProof="1">
              <a:solidFill>
                <a:srgbClr val="555555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[13] Anda, B., Dreiem, H., Sjøberg, D. I. K., &amp; Jørgensen, M. (2001). Estimating software development effort based on use cases—Experiences from industry. In UML 2001: The Unified Modeling Language (LNCS 2185, pp. 487–502). Springer. </a:t>
            </a:r>
            <a:r>
              <a:rPr lang="en-US" sz="1425" u="sng" noProof="1">
                <a:solidFill>
                  <a:srgbClr val="1F5AA6"/>
                </a:solidFill>
                <a:latin typeface="Arial"/>
                <a:ea typeface="Arial"/>
                <a:cs typeface="Arial"/>
                <a:hlinkClick r:id="rId4"/>
              </a:rPr>
              <a:t>https://doi.org/10.1007/3-540-45441-1_35</a:t>
            </a: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25" noProof="1">
              <a:solidFill>
                <a:srgbClr val="555555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[14] Cohn, M. (2005). Estimating with use case points. Methods &amp; Tools. </a:t>
            </a:r>
            <a:r>
              <a:rPr lang="en-US" sz="1425" u="sng" noProof="1">
                <a:solidFill>
                  <a:srgbClr val="1F5AA6"/>
                </a:solidFill>
                <a:latin typeface="Arial"/>
                <a:ea typeface="Arial"/>
                <a:cs typeface="Arial"/>
                <a:hlinkClick r:id="rId5"/>
              </a:rPr>
              <a:t>https://www.methodsandtools.com/archive/archive.php?id=25</a:t>
            </a: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25" noProof="1">
              <a:solidFill>
                <a:srgbClr val="555555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25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[15] Tavakoli, H. (2026). The CASTROFF framework: A professional standard for prompt engineering. In Prompt Engineering for Everyone (pp. 95–116). Apress. </a:t>
            </a:r>
            <a:r>
              <a:rPr lang="en-US" sz="1425" u="sng" noProof="1">
                <a:solidFill>
                  <a:srgbClr val="1F5AA6"/>
                </a:solidFill>
                <a:latin typeface="Arial"/>
                <a:ea typeface="Arial"/>
                <a:cs typeface="Arial"/>
                <a:hlinkClick r:id="rId6"/>
              </a:rPr>
              <a:t>https://doi.org/10.1007/979-8-8688-2338-1_6</a:t>
            </a:r>
            <a:r>
              <a:rPr lang="en-US" sz="1425" noProof="1">
                <a:solidFill>
                  <a:srgbClr val="555555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59" name="Google Shape;259;p19">
            <a:extLst>
              <a:ext uri="{FF2B5EF4-FFF2-40B4-BE49-F238E27FC236}">
                <a16:creationId xmlns:a16="http://schemas.microsoft.com/office/drawing/2014/main" id="{8D3D26C1-3D76-4E48-AE59-45D4D41B68D5}"/>
              </a:ext>
            </a:extLst>
          </p:cNvPr>
          <p:cNvSpPr>
            <a:spLocks noGrp="1"/>
          </p:cNvSpPr>
          <p:nvPr/>
        </p:nvSpPr>
        <p:spPr>
          <a:xfrm>
            <a:off x="303840" y="105480"/>
            <a:ext cx="8662680" cy="8125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noProof="1"/>
          </a:p>
        </p:txBody>
      </p:sp>
      <p:sp>
        <p:nvSpPr>
          <p:cNvPr id="260" name="Google Shape;260;p19">
            <a:extLst>
              <a:ext uri="{FF2B5EF4-FFF2-40B4-BE49-F238E27FC236}">
                <a16:creationId xmlns:a16="http://schemas.microsoft.com/office/drawing/2014/main" id="{8D3922DB-0729-4AC5-AE5D-6AC75578C54D}"/>
              </a:ext>
            </a:extLst>
          </p:cNvPr>
          <p:cNvSpPr>
            <a:spLocks noGrp="1"/>
          </p:cNvSpPr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1159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cap="none" noProof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References (3/3)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A99CD4-F81D-4169-A4DE-E21808A9D3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22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109633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">
            <a:extLst>
              <a:ext uri="{FF2B5EF4-FFF2-40B4-BE49-F238E27FC236}">
                <a16:creationId xmlns:a16="http://schemas.microsoft.com/office/drawing/2014/main" id="{889AA769-0718-47D9-A850-D4542B7F570D}"/>
              </a:ext>
            </a:extLst>
          </p:cNvPr>
          <p:cNvSpPr>
            <a:spLocks noGrp="1"/>
          </p:cNvSpPr>
          <p:nvPr/>
        </p:nvSpPr>
        <p:spPr>
          <a:xfrm>
            <a:off x="1270080" y="2539666"/>
            <a:ext cx="6603480" cy="135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cap="none" noProof="1">
                <a:solidFill>
                  <a:srgbClr val="A61C00"/>
                </a:solidFill>
                <a:latin typeface="Arial"/>
                <a:ea typeface="Arial"/>
                <a:cs typeface="Arial"/>
              </a:rPr>
              <a:t>Questions &amp; Answers</a:t>
            </a:r>
          </a:p>
        </p:txBody>
      </p:sp>
      <p:sp>
        <p:nvSpPr>
          <p:cNvPr id="266" name="Google Shape;266;p20">
            <a:extLst>
              <a:ext uri="{FF2B5EF4-FFF2-40B4-BE49-F238E27FC236}">
                <a16:creationId xmlns:a16="http://schemas.microsoft.com/office/drawing/2014/main" id="{BA39B5BF-3E5F-4342-89FA-CE7A3143F9F9}"/>
              </a:ext>
            </a:extLst>
          </p:cNvPr>
          <p:cNvSpPr>
            <a:spLocks noGrp="1"/>
          </p:cNvSpPr>
          <p:nvPr/>
        </p:nvSpPr>
        <p:spPr>
          <a:xfrm>
            <a:off x="1270080" y="4074969"/>
            <a:ext cx="660348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1" u="none" cap="none" noProof="1">
                <a:solidFill>
                  <a:srgbClr val="666666"/>
                </a:solidFill>
                <a:latin typeface="Arial"/>
                <a:ea typeface="Arial"/>
                <a:cs typeface="Arial"/>
              </a:rPr>
              <a:t>Thank you for reviewing our iBank Delivery 3 Presentation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1EBE63-7DF7-C45C-38FF-7532D48357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23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59124789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1">
  <a:themeElements>
    <a:clrScheme name="Default 1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fault 1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1">
  <a:themeElements>
    <a:clrScheme name="Default 1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fault 1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2722</Words>
  <Application>Microsoft Macintosh PowerPoint</Application>
  <DocSecurity>0</DocSecurity>
  <PresentationFormat>On-screen Show (4:3)</PresentationFormat>
  <Paragraphs>477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Tahoma</vt:lpstr>
      <vt:lpstr>Noto Sans Symbols</vt:lpstr>
      <vt:lpstr>Arial</vt:lpstr>
      <vt:lpstr>Calibri</vt:lpstr>
      <vt:lpstr>Times New Roman</vt:lpstr>
      <vt:lpstr>Default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Wei Huang</cp:lastModifiedBy>
  <cp:revision>51</cp:revision>
  <dcterms:created xsi:type="dcterms:W3CDTF">2026-07-29T00:31:12Z</dcterms:created>
  <dcterms:modified xsi:type="dcterms:W3CDTF">2026-07-29T03:41:39Z</dcterms:modified>
</cp:coreProperties>
</file>
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9144000"/>
  <p:notesSz cx="6858000" cy="9144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8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Char char="∙"/>
              <a:defRPr/>
            </a:lvl1pPr>
            <a:lvl2pPr lvl="1" algn="l">
              <a:spcBef>
                <a:spcPts val="1412"/>
              </a:spcBef>
              <a:spcAft>
                <a:spcPts val="0"/>
              </a:spcAft>
              <a:buSzPts val="1350"/>
              <a:buChar char="−"/>
              <a:defRPr/>
            </a:lvl2pPr>
            <a:lvl3pPr lvl="2" algn="l"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3pPr>
            <a:lvl4pPr lvl="3" algn="l">
              <a:spcBef>
                <a:spcPts val="1412"/>
              </a:spcBef>
              <a:spcAft>
                <a:spcPts val="0"/>
              </a:spcAft>
              <a:buSzPts val="1350"/>
              <a:buChar char="−"/>
              <a:defRPr/>
            </a:lvl4pPr>
            <a:lvl5pPr lvl="4" algn="l"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5pPr>
            <a:lvl6pPr lvl="5" algn="l"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6pPr>
            <a:lvl7pPr lvl="6" algn="l">
              <a:spcBef>
                <a:spcPts val="1412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spcBef>
                <a:spcPts val="1412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8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3640" cy="6857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>
            <a:off x="3108240" y="6378480"/>
            <a:ext cx="292536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78480"/>
            <a:ext cx="210312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400"/>
              <a:buFont typeface="Calibri"/>
              <a:buNone/>
              <a:defRPr b="0" sz="1400" u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0080" y="6607080"/>
            <a:ext cx="178920" cy="15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000"/>
              <a:buFont typeface="Times New Roman"/>
              <a:buNone/>
              <a:defRPr b="0" sz="100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ahoma"/>
              <a:buNone/>
              <a:defRPr b="1" i="0" sz="4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97180" lvl="2" marL="13716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7180" lvl="4" marL="22860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7180" lvl="5" marL="27432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7180" lvl="6" marL="3200400" marR="0" rtl="0" algn="l">
              <a:spcBef>
                <a:spcPts val="1412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412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24.xml"/><Relationship Id="rId4" Type="http://schemas.openxmlformats.org/officeDocument/2006/relationships/slide" Target="/ppt/slides/slide24.xml"/><Relationship Id="rId5" Type="http://schemas.openxmlformats.org/officeDocument/2006/relationships/slide" Target="/ppt/slides/slide24.xml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4.xml"/><Relationship Id="rId4" Type="http://schemas.openxmlformats.org/officeDocument/2006/relationships/image" Target="../media/image2.png"/><Relationship Id="rId11" Type="http://schemas.openxmlformats.org/officeDocument/2006/relationships/hyperlink" Target="https://github.com/xenobinary/6611-project/blob/master/d1/gemini.md" TargetMode="External"/><Relationship Id="rId10" Type="http://schemas.openxmlformats.org/officeDocument/2006/relationships/hyperlink" Target="https://github.com/xenobinary/6611-project/blob/master/d1/qwen.md" TargetMode="External"/><Relationship Id="rId9" Type="http://schemas.openxmlformats.org/officeDocument/2006/relationships/hyperlink" Target="https://github.com/xenobinary/6611-project/blob/master/d1/deepseek.md" TargetMode="External"/><Relationship Id="rId5" Type="http://schemas.openxmlformats.org/officeDocument/2006/relationships/hyperlink" Target="https://github.com/xenobinary/6611-project/blob/master/d1/delivery1_castroff_prompt.md" TargetMode="External"/><Relationship Id="rId6" Type="http://schemas.openxmlformats.org/officeDocument/2006/relationships/hyperlink" Target="https://github.com/xenobinary/6611-project/blob/master/d1/claude.md" TargetMode="External"/><Relationship Id="rId7" Type="http://schemas.openxmlformats.org/officeDocument/2006/relationships/hyperlink" Target="https://github.com/xenobinary/6611-project/blob/master/d1/chatgpt.md" TargetMode="External"/><Relationship Id="rId8" Type="http://schemas.openxmlformats.org/officeDocument/2006/relationships/hyperlink" Target="https://github.com/xenobinary/6611-project/blob/master/d1/gpt.m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4.xml"/><Relationship Id="rId4" Type="http://schemas.openxmlformats.org/officeDocument/2006/relationships/slide" Target="/ppt/slides/slide24.xml"/><Relationship Id="rId5" Type="http://schemas.openxmlformats.org/officeDocument/2006/relationships/slide" Target="/ppt/slides/slide24.xml"/><Relationship Id="rId6" Type="http://schemas.openxmlformats.org/officeDocument/2006/relationships/slide" Target="/ppt/slides/slide24.xml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slide" Target="/ppt/slides/slide24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aws-lois.justice.gc.ca/eng/acts/b-1.01/page-1.html" TargetMode="External"/><Relationship Id="rId4" Type="http://schemas.openxmlformats.org/officeDocument/2006/relationships/hyperlink" Target="https://laws-lois.justice.gc.ca/eng/acts/A-0.6/" TargetMode="External"/><Relationship Id="rId5" Type="http://schemas.openxmlformats.org/officeDocument/2006/relationships/hyperlink" Target="https://laws-lois.justice.gc.ca/eng/acts/p-8.6/" TargetMode="External"/><Relationship Id="rId6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3486240" y="5641920"/>
            <a:ext cx="2296800" cy="3052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800">
                <a:solidFill>
                  <a:srgbClr val="555555"/>
                </a:solidFill>
              </a:rPr>
              <a:t>June 4, 2026</a:t>
            </a:r>
            <a:endParaRPr sz="2600" u="none" strike="noStrike">
              <a:solidFill>
                <a:srgbClr val="434343"/>
              </a:solidFill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03120" y="104760"/>
            <a:ext cx="8662680" cy="8125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88960" y="23796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iBank: Delivery 1</a:t>
            </a:r>
            <a:endParaRPr b="0" sz="3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25760" y="892728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>
                <a:solidFill>
                  <a:srgbClr val="666666"/>
                </a:solidFill>
              </a:rPr>
              <a:t>Project of SOEN 6611 - Software Measurement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2513532" y="2667000"/>
            <a:ext cx="6305700" cy="1443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6B8AF"/>
              </a:gs>
            </a:gsLst>
            <a:lin ang="10800025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12338"/>
              </a:solidFill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2660113" y="2667000"/>
            <a:ext cx="50799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00">
                <a:solidFill>
                  <a:srgbClr val="333333"/>
                </a:solidFill>
              </a:rPr>
              <a:t>WEI HUANG</a:t>
            </a:r>
            <a:r>
              <a:rPr lang="en-CA" sz="1500">
                <a:solidFill>
                  <a:srgbClr val="888888"/>
                </a:solidFill>
              </a:rPr>
              <a:t>   |   40109362</a:t>
            </a:r>
            <a:endParaRPr sz="1500">
              <a:solidFill>
                <a:srgbClr val="88888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00">
                <a:solidFill>
                  <a:srgbClr val="333333"/>
                </a:solidFill>
              </a:rPr>
              <a:t>YICHEN HUANG</a:t>
            </a:r>
            <a:r>
              <a:rPr lang="en-CA" sz="1500">
                <a:solidFill>
                  <a:srgbClr val="888888"/>
                </a:solidFill>
              </a:rPr>
              <a:t>   |   40167688</a:t>
            </a:r>
            <a:endParaRPr sz="1500">
              <a:solidFill>
                <a:srgbClr val="88888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00">
                <a:solidFill>
                  <a:srgbClr val="333333"/>
                </a:solidFill>
              </a:rPr>
              <a:t>QIANG</a:t>
            </a:r>
            <a:r>
              <a:rPr b="1" lang="en-CA" sz="1900">
                <a:solidFill>
                  <a:srgbClr val="333333"/>
                </a:solidFill>
              </a:rPr>
              <a:t> XUE</a:t>
            </a:r>
            <a:r>
              <a:rPr lang="en-CA" sz="1500">
                <a:solidFill>
                  <a:srgbClr val="888888"/>
                </a:solidFill>
              </a:rPr>
              <a:t>   |   40300671</a:t>
            </a:r>
            <a:endParaRPr sz="1500">
              <a:solidFill>
                <a:srgbClr val="888888"/>
              </a:solidFill>
            </a:endParaRPr>
          </a:p>
        </p:txBody>
      </p:sp>
      <p:sp>
        <p:nvSpPr>
          <p:cNvPr id="32" name="Google Shape;32;p4"/>
          <p:cNvSpPr/>
          <p:nvPr/>
        </p:nvSpPr>
        <p:spPr>
          <a:xfrm rot="5400000">
            <a:off x="2409178" y="3283038"/>
            <a:ext cx="200700" cy="173700"/>
          </a:xfrm>
          <a:prstGeom prst="triangle">
            <a:avLst>
              <a:gd fmla="val 50000" name="adj"/>
            </a:avLst>
          </a:prstGeom>
          <a:solidFill>
            <a:srgbClr val="DD7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395175" y="3204878"/>
            <a:ext cx="1896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000">
                <a:solidFill>
                  <a:srgbClr val="912338"/>
                </a:solidFill>
              </a:rPr>
              <a:t>ANALYST | REVIEWER</a:t>
            </a:r>
            <a:endParaRPr b="1" sz="1000">
              <a:solidFill>
                <a:srgbClr val="912338"/>
              </a:solidFill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63238" y="4030100"/>
            <a:ext cx="200700" cy="173700"/>
          </a:xfrm>
          <a:prstGeom prst="triangle">
            <a:avLst>
              <a:gd fmla="val 50000" name="adj"/>
            </a:avLst>
          </a:prstGeom>
          <a:solidFill>
            <a:srgbClr val="DD7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2477703" y="4288400"/>
            <a:ext cx="17718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000">
                <a:solidFill>
                  <a:srgbClr val="912338"/>
                </a:solidFill>
              </a:rPr>
              <a:t>LEAD | CODER | WRITER</a:t>
            </a:r>
            <a:endParaRPr b="1" sz="1000">
              <a:solidFill>
                <a:srgbClr val="912338"/>
              </a:solidFill>
            </a:endParaRPr>
          </a:p>
        </p:txBody>
      </p:sp>
      <p:sp>
        <p:nvSpPr>
          <p:cNvPr id="36" name="Google Shape;36;p4"/>
          <p:cNvSpPr/>
          <p:nvPr/>
        </p:nvSpPr>
        <p:spPr>
          <a:xfrm rot="10800000">
            <a:off x="3263238" y="2570165"/>
            <a:ext cx="200700" cy="173700"/>
          </a:xfrm>
          <a:prstGeom prst="triangle">
            <a:avLst>
              <a:gd fmla="val 50000" name="adj"/>
            </a:avLst>
          </a:prstGeom>
          <a:solidFill>
            <a:srgbClr val="DD7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2288849" y="2191490"/>
            <a:ext cx="21495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000">
                <a:solidFill>
                  <a:srgbClr val="912338"/>
                </a:solidFill>
              </a:rPr>
              <a:t>DESIGNER</a:t>
            </a:r>
            <a:r>
              <a:rPr b="1" lang="en-CA" sz="1000">
                <a:solidFill>
                  <a:srgbClr val="912338"/>
                </a:solidFill>
              </a:rPr>
              <a:t> | EVALUATOR</a:t>
            </a:r>
            <a:endParaRPr b="1" sz="1000">
              <a:solidFill>
                <a:srgbClr val="912338"/>
              </a:solidFill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105925" y="3092850"/>
            <a:ext cx="17424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FFFFFF"/>
                </a:solidFill>
              </a:rPr>
              <a:t>GROUP C</a:t>
            </a:r>
            <a:endParaRPr b="1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303480" y="105120"/>
            <a:ext cx="8662680" cy="8125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89320" y="23832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6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 u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Agenda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326160" y="1255440"/>
            <a:ext cx="8640000" cy="4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1. Introduction &amp; Overview</a:t>
            </a:r>
            <a:endParaRPr b="0" sz="24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• The iBank Concept and Scope</a:t>
            </a:r>
            <a:endParaRPr b="0" sz="20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2. Problem 1: ABM Selection</a:t>
            </a:r>
            <a:endParaRPr b="0" sz="24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• Canadian Context and Project Assumptions</a:t>
            </a:r>
            <a:endParaRPr b="0" sz="20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3. Problem 2: GQM Goal &amp; Metrics</a:t>
            </a:r>
            <a:endParaRPr b="0" sz="24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• SMART Goal, Candidate Questions, and Measurement Strategy</a:t>
            </a:r>
            <a:endParaRPr b="0" sz="20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4. Problem 3: Use Case Architecture</a:t>
            </a:r>
            <a:endParaRPr b="0" sz="24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20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• User Stories, </a:t>
            </a:r>
            <a:r>
              <a:rPr lang="en-CA" sz="2000">
                <a:solidFill>
                  <a:srgbClr val="434343"/>
                </a:solidFill>
              </a:rPr>
              <a:t>Use Case</a:t>
            </a:r>
            <a:r>
              <a:rPr b="0" lang="en-CA" sz="20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Diagram</a:t>
            </a:r>
            <a:r>
              <a:rPr lang="en-CA" sz="2000">
                <a:solidFill>
                  <a:srgbClr val="434343"/>
                </a:solidFill>
              </a:rPr>
              <a:t> and Text Description</a:t>
            </a:r>
            <a:endParaRPr b="0" sz="20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5. Q&amp;A</a:t>
            </a:r>
            <a:endParaRPr b="0" sz="20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303850" y="1119450"/>
            <a:ext cx="8662800" cy="1523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💻 The iBank Concept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CA" sz="1500" u="none" strike="noStrike">
                <a:solidFill>
                  <a:srgbClr val="980000"/>
                </a:solidFill>
              </a:rPr>
              <a:t>simulated</a:t>
            </a:r>
            <a:r>
              <a:rPr b="0" lang="en-CA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CA" sz="1500" u="none" strike="noStrike">
                <a:solidFill>
                  <a:srgbClr val="980000"/>
                </a:solidFill>
              </a:rPr>
              <a:t>software-only</a:t>
            </a:r>
            <a:r>
              <a:rPr b="0" lang="en-CA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Automated Banking Machine (ABM) implemented as a Java desktop GUI application. It represents a standard retail ABM found across Canada without requiring specialized hardware.</a:t>
            </a:r>
            <a:endParaRPr b="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03850" y="2784518"/>
            <a:ext cx="4204200" cy="289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3498DB"/>
                </a:solidFill>
              </a:rPr>
              <a:t>🇨🇦 Canadian Alignment</a:t>
            </a:r>
            <a:endParaRPr b="1" sz="1600">
              <a:solidFill>
                <a:srgbClr val="3498D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498DB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Regulatory Context: Represents retail ABMs governed by the Bank Act (S.C. 1991, c. 46) and the FCAC. </a:t>
            </a:r>
            <a:r>
              <a:rPr lang="en-CA" u="sng">
                <a:solidFill>
                  <a:schemeClr val="hlink"/>
                </a:solidFill>
                <a:hlinkClick action="ppaction://hlinksldjump" r:id="rId3"/>
              </a:rPr>
              <a:t>[3]</a:t>
            </a:r>
            <a:endParaRPr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Accessibility: GUI design respects principles derived from the Accessible Canada Act. </a:t>
            </a:r>
            <a:r>
              <a:rPr lang="en-CA" u="sng">
                <a:solidFill>
                  <a:schemeClr val="hlink"/>
                </a:solidFill>
                <a:hlinkClick action="ppaction://hlinksldjump" r:id="rId4"/>
              </a:rPr>
              <a:t>[4]</a:t>
            </a:r>
            <a:endParaRPr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PIPEDA: Personal Information Protection and Electronic Documents from the PIPEDA Act. </a:t>
            </a:r>
            <a:r>
              <a:rPr lang="en-CA" u="sng">
                <a:solidFill>
                  <a:schemeClr val="hlink"/>
                </a:solidFill>
                <a:hlinkClick action="ppaction://hlinksldjump" r:id="rId5"/>
              </a:rPr>
              <a:t>[5]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762450" y="2790900"/>
            <a:ext cx="4204200" cy="2180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3498DB"/>
                </a:solidFill>
              </a:rPr>
              <a:t>🛡️ Deliberately Simple Scope</a:t>
            </a:r>
            <a:endParaRPr b="1" sz="1600">
              <a:solidFill>
                <a:srgbClr val="3498D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498DB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NO real card-reader hardware or biometrics.</a:t>
            </a:r>
            <a:endParaRPr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NO live Interac/payment networks.</a:t>
            </a:r>
            <a:endParaRPr>
              <a:solidFill>
                <a:srgbClr val="43434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</a:pPr>
            <a:r>
              <a:rPr lang="en-CA">
                <a:solidFill>
                  <a:srgbClr val="434343"/>
                </a:solidFill>
              </a:rPr>
              <a:t>NO real customer data or interbank transfers.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303840" y="105480"/>
            <a:ext cx="8662680" cy="8125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6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 u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Project Overview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886525" y="4034063"/>
            <a:ext cx="7080000" cy="5355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25300" y="892726"/>
            <a:ext cx="761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Structured prompting using the CASTROFF framework. </a:t>
            </a:r>
            <a:r>
              <a:rPr b="0" i="1" lang="en-CA" sz="14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3"/>
              </a:rPr>
              <a:t>[1]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03850" y="1230525"/>
            <a:ext cx="4368000" cy="2589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🤖 LLM Tool Usage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C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onstraints: Follow D1 scope.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A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udience: Course instructor &amp; evaluators.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S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tructure: Organized by problem.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T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one: Academic and presentation-ready.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R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ole: Software measurement analyst.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O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utput: Markdown tables and presentation </a:t>
            </a:r>
            <a:r>
              <a:rPr lang="en-CA" sz="1300">
                <a:solidFill>
                  <a:srgbClr val="434343"/>
                </a:solidFill>
              </a:rPr>
              <a:t>outline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F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ocus: ABM selection and SMART GQM.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6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u="none" strike="noStrike">
                <a:solidFill>
                  <a:srgbClr val="980000"/>
                </a:solidFill>
              </a:rPr>
              <a:t>F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unction: Draft brainstorming, not final content.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303850" y="4589000"/>
            <a:ext cx="8662800" cy="1961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✍️ Attribution &amp; Originality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Verbatim Copying: All six GAI output was manually </a:t>
            </a:r>
            <a:r>
              <a:rPr b="1" lang="en-CA" sz="1500" u="none" strike="noStrike">
                <a:solidFill>
                  <a:srgbClr val="980000"/>
                </a:solidFill>
              </a:rPr>
              <a:t>reviewed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CA" sz="1500" u="none" strike="noStrike">
                <a:solidFill>
                  <a:srgbClr val="980000"/>
                </a:solidFill>
              </a:rPr>
              <a:t>synthesized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CA" sz="1500" u="none" strike="noStrike">
                <a:solidFill>
                  <a:srgbClr val="980000"/>
                </a:solidFill>
              </a:rPr>
              <a:t>rephrased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into the team's original wording.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Verification: All Canadian regulatory claims and academic frameworks generated by the LLM were independently verified against primary source literature.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Citing: All external ideas are formally cited using IEEE style.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Generative AI Strategy</a:t>
            </a:r>
            <a:endParaRPr sz="3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834925" y="1275150"/>
            <a:ext cx="4131600" cy="2645100"/>
          </a:xfrm>
          <a:prstGeom prst="roundRect">
            <a:avLst>
              <a:gd fmla="val 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assisting a student team in Software Measurement with Delivery 1 for a project named iBank. Act as both a software measurement analyst and a requirements analyst.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Context: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iBank is an Automated Banking Machine (ABM) product.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An ABM is an automated self-service machine that enables bank clients to carry out transactions.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project process includes elements of agile methodologies and DevOps.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Every problem must use one or more publicly available GAI tools that rely on LLMs.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The prompt must be based on the CASTROFF prompt engineering framework: Constraints, Audience, Structure, Tone, Role, Output format, Focus, and Function.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All non-original work must be cited and referenced appropriately.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Claims must be evidence-based. Do not copy external text verbatim.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 </a:t>
            </a:r>
            <a:r>
              <a:rPr lang="en-CA" sz="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[Full version]</a:t>
            </a:r>
            <a:endParaRPr sz="9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442400" y="1835600"/>
            <a:ext cx="337800" cy="1791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7">
            <a:hlinkClick r:id="rId6"/>
          </p:cNvPr>
          <p:cNvSpPr/>
          <p:nvPr/>
        </p:nvSpPr>
        <p:spPr>
          <a:xfrm>
            <a:off x="2152863" y="4132925"/>
            <a:ext cx="669978" cy="337770"/>
          </a:xfrm>
          <a:prstGeom prst="flowChartDocumen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claude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7">
            <a:hlinkClick r:id="rId7"/>
          </p:cNvPr>
          <p:cNvSpPr/>
          <p:nvPr/>
        </p:nvSpPr>
        <p:spPr>
          <a:xfrm>
            <a:off x="3336985" y="4149200"/>
            <a:ext cx="669978" cy="337770"/>
          </a:xfrm>
          <a:prstGeom prst="flowChartDocumen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7">
            <a:hlinkClick r:id="rId8"/>
          </p:cNvPr>
          <p:cNvSpPr/>
          <p:nvPr/>
        </p:nvSpPr>
        <p:spPr>
          <a:xfrm>
            <a:off x="4521108" y="4149200"/>
            <a:ext cx="669978" cy="337770"/>
          </a:xfrm>
          <a:prstGeom prst="flowChartDocumen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gpt 5.5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7">
            <a:hlinkClick r:id="rId9"/>
          </p:cNvPr>
          <p:cNvSpPr/>
          <p:nvPr/>
        </p:nvSpPr>
        <p:spPr>
          <a:xfrm>
            <a:off x="5705230" y="4149200"/>
            <a:ext cx="669978" cy="337824"/>
          </a:xfrm>
          <a:prstGeom prst="flowChartDocumen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deepseek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7">
            <a:hlinkClick r:id="rId10"/>
          </p:cNvPr>
          <p:cNvSpPr/>
          <p:nvPr/>
        </p:nvSpPr>
        <p:spPr>
          <a:xfrm>
            <a:off x="6889352" y="4149200"/>
            <a:ext cx="669978" cy="337824"/>
          </a:xfrm>
          <a:prstGeom prst="flowChartDocument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qwen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7">
            <a:hlinkClick r:id="rId11"/>
          </p:cNvPr>
          <p:cNvSpPr/>
          <p:nvPr/>
        </p:nvSpPr>
        <p:spPr>
          <a:xfrm>
            <a:off x="8073475" y="4149200"/>
            <a:ext cx="669978" cy="33782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7"/>
          <p:cNvSpPr/>
          <p:nvPr/>
        </p:nvSpPr>
        <p:spPr>
          <a:xfrm rot="5400000">
            <a:off x="6596700" y="3782175"/>
            <a:ext cx="306000" cy="382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/>
          <p:nvPr/>
        </p:nvSpPr>
        <p:spPr>
          <a:xfrm rot="5400000">
            <a:off x="6596700" y="4471550"/>
            <a:ext cx="306000" cy="3825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-613790" y="1855685"/>
            <a:ext cx="7619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825297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Defining the machine, currency, and primary users.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303849" y="1693075"/>
            <a:ext cx="4267800" cy="406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🏧 The iBank Concept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standard retail cash-and-account ABM, commonly found in Canadian bank branches and convenience locations.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Format: Software-only Java GUI prototype.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Supported Currency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D</a:t>
            </a:r>
            <a:r>
              <a:rPr lang="en-CA" sz="1300">
                <a:solidFill>
                  <a:srgbClr val="434343"/>
                </a:solidFill>
              </a:rPr>
              <a:t>efault 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Canadian Dollars (CAD) -- no foreign exchange features are included to keep scope manageable.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1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Cash withdrawal, balance inquiry,</a:t>
            </a:r>
            <a:r>
              <a:rPr lang="en-CA" sz="1300">
                <a:solidFill>
                  <a:srgbClr val="434343"/>
                </a:solidFill>
              </a:rPr>
              <a:t> 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internal fund transfers, and replen</a:t>
            </a:r>
            <a:r>
              <a:rPr lang="en-CA" sz="1300">
                <a:solidFill>
                  <a:srgbClr val="434343"/>
                </a:solidFill>
              </a:rPr>
              <a:t>ish cash inventory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826149" y="1693075"/>
            <a:ext cx="4140300" cy="186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👤 Bank Client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Everyday retail banking customers who hold chequing and/or savings accounts. They use the ABM for financial self-service.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826150" y="3470125"/>
            <a:ext cx="4140300" cy="140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🔧 ABM Technician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maintenance staff who access the machine via a secure supervisor mode to update internal physical cash inventories.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1: ABM Concept</a:t>
            </a:r>
            <a:endParaRPr sz="3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/>
          <p:nvPr/>
        </p:nvSpPr>
        <p:spPr>
          <a:xfrm>
            <a:off x="654535" y="1205560"/>
            <a:ext cx="76197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654497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Aligning the prototype with federal, provincial, and municipal realities.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507960" y="1693080"/>
            <a:ext cx="8127720" cy="118476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⚖️ Federal Banking Regulations (Bank Act &amp; FCAC)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Standard ABMs operate under frameworks overseen by the Financial Consumer Agency of Canada (FCAC). By building a simulated, non-networked prototype, we legally avoid live payment-network compliance requirements. </a:t>
            </a:r>
            <a:r>
              <a:rPr b="0" lang="en-CA" sz="13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3"/>
              </a:rPr>
              <a:t>[3]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507960" y="3216960"/>
            <a:ext cx="8127720" cy="118476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♿ Accessibility &amp; Language (Accessible Canada Act)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Modern Canadian ABMs must comply with the Accessible Canada Act (S.C. 2019, c. 10). Our GUI design assumes accessible UI patterns (high contrast, clear fonts) and conceptual support for English/French bilingualism. </a:t>
            </a:r>
            <a:r>
              <a:rPr b="0" lang="en-CA" sz="13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4"/>
              </a:rPr>
              <a:t>[</a:t>
            </a:r>
            <a:r>
              <a:rPr lang="en-CA" sz="1300" u="sng">
                <a:solidFill>
                  <a:schemeClr val="hlink"/>
                </a:solidFill>
                <a:hlinkClick action="ppaction://hlinksldjump" r:id="rId5"/>
              </a:rPr>
              <a:t>4]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507960" y="4740840"/>
            <a:ext cx="8127720" cy="118476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🔒 Privacy &amp; Data Protection (PIPEDA)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Under PIPEDA (S.C. 2000, c. 5), handling real financial data requires strict encryption. iBank legally bypasses this by utilizing 100% fictional test data, ensuring zero risk of PII (Personally Identifiable Information) exposure. </a:t>
            </a:r>
            <a:r>
              <a:rPr b="0" lang="en-CA" sz="13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6"/>
              </a:rPr>
              <a:t>[5]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1: 21st Century Canadian Context</a:t>
            </a:r>
            <a:endParaRPr sz="34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825297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Setting boundaries to ensure the project is achievable in D2 and D3.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303849" y="1693075"/>
            <a:ext cx="4140600" cy="186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1ABC9C"/>
                </a:solidFill>
                <a:latin typeface="Arial"/>
                <a:ea typeface="Arial"/>
                <a:cs typeface="Arial"/>
                <a:sym typeface="Arial"/>
              </a:rPr>
              <a:t>💻 1. Hardware Simulation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real card-reader hardware. Card reading is simulated by manual entry or a GUI dropdown of pre-defined sample cards.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4699075" y="1693075"/>
            <a:ext cx="4267500" cy="186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1ABC9C"/>
                </a:solidFill>
                <a:latin typeface="Arial"/>
                <a:ea typeface="Arial"/>
                <a:cs typeface="Arial"/>
                <a:sym typeface="Arial"/>
              </a:rPr>
              <a:t>🌐 2. Network Isolation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live connection to Interac, Visa, or Mastercard. The system is a standalone, single-bank simulation.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303950" y="3894125"/>
            <a:ext cx="4140600" cy="186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1ABC9C"/>
                </a:solidFill>
                <a:latin typeface="Arial"/>
                <a:ea typeface="Arial"/>
                <a:cs typeface="Arial"/>
                <a:sym typeface="Arial"/>
              </a:rPr>
              <a:t>💾 3. Data Persistence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Account balances and PINs are initialized at application start from hard-coded/in-memory data. No complex enterprise database is used.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699075" y="3894125"/>
            <a:ext cx="4267500" cy="186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1ABC9C"/>
                </a:solidFill>
                <a:latin typeface="Arial"/>
                <a:ea typeface="Arial"/>
                <a:cs typeface="Arial"/>
                <a:sym typeface="Arial"/>
              </a:rPr>
              <a:t>🛑 4. Out of Scope Features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biometric authentication, no cryptocurrency, no live interbank wire transfers, and no fraud-scoring engines.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1: Explicit Project Assumptions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825297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Defining the Goal, Question, Metric approach for iBank.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303850" y="1693075"/>
            <a:ext cx="86628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🎯 Full Goal Statement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980000"/>
                </a:solidFill>
              </a:rPr>
              <a:t>Evaluate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the transaction reliability and usability of the iBank ABM simulation, in order to </a:t>
            </a:r>
            <a:r>
              <a:rPr b="1" lang="en-CA" sz="1500" u="none" strike="noStrike">
                <a:solidFill>
                  <a:srgbClr val="980000"/>
                </a:solidFill>
              </a:rPr>
              <a:t>improve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it, from the viewpoint of the development team, in the context of a three-student, one-semester Java GUI project following an agile and DevOps process.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303849" y="3555725"/>
            <a:ext cx="4140600" cy="22008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📍 Purpose &amp; Perspective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Purpose: To evaluate the iBank ABM simulation in order to improve it.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27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Arial"/>
              <a:buChar char="●"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Perspective: Examine transaction reliability and usability from the viewpoint of the development team.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4699075" y="3555725"/>
            <a:ext cx="4267500" cy="2200800"/>
          </a:xfrm>
          <a:prstGeom prst="roundRect">
            <a:avLst>
              <a:gd fmla="val 501" name="adj"/>
            </a:avLst>
          </a:prstGeom>
          <a:noFill/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🏢 Environment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 the context of a </a:t>
            </a:r>
            <a:r>
              <a:rPr b="1" lang="en-CA" sz="1500" u="none" strike="noStrike">
                <a:solidFill>
                  <a:srgbClr val="980000"/>
                </a:solidFill>
              </a:rPr>
              <a:t>three-student, one-semester 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Java GUI project following an agile and DevOps process</a:t>
            </a:r>
            <a:r>
              <a:rPr b="0" lang="en-CA" sz="1300" u="none" strike="noStrike">
                <a:solidFill>
                  <a:srgbClr val="ECF0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2: GQM Goal Statement </a:t>
            </a:r>
            <a:r>
              <a:rPr lang="en-CA" sz="18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/>
              </a:rPr>
              <a:t>[2]</a:t>
            </a:r>
            <a:endParaRPr sz="18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762122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Ensuring our measurement goal is specific, measurable, attainable, realistic, and timely.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507960" y="1693080"/>
            <a:ext cx="2476080" cy="186228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8E44AD"/>
                </a:solidFill>
                <a:latin typeface="Arial"/>
                <a:ea typeface="Arial"/>
                <a:cs typeface="Arial"/>
                <a:sym typeface="Arial"/>
              </a:rPr>
              <a:t>S - Specific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Targets transaction reliability and usability of a named system (iBank), for a named stakeholder (development team).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3301920" y="1693080"/>
            <a:ext cx="2539800" cy="186228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980B9"/>
                </a:solidFill>
                <a:latin typeface="Arial"/>
                <a:ea typeface="Arial"/>
                <a:cs typeface="Arial"/>
                <a:sym typeface="Arial"/>
              </a:rPr>
              <a:t>M - Measurable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Both reliability (e.g., transaction success rate) and usability (e.g., task completion time) map to quantifiable metrics.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6159600" y="1693080"/>
            <a:ext cx="2476080" cy="186228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A - Attainable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scope is deliberately restricted to a Java GUI simulation; the team can instrument and test it within a semester.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1778040" y="3894120"/>
            <a:ext cx="2539800" cy="186228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F39C12"/>
                </a:solidFill>
                <a:latin typeface="Arial"/>
                <a:ea typeface="Arial"/>
                <a:cs typeface="Arial"/>
                <a:sym typeface="Arial"/>
              </a:rPr>
              <a:t>R - Realistic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 system is small enough (few classes, few use cases) that full coverage measurement is practical.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826160" y="3894120"/>
            <a:ext cx="2539800" cy="1862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 - Timely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Framed within a one-semester project; D3 is the explicit measurement deadline for evaluation.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2: SMART Check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/>
        </p:nvSpPr>
        <p:spPr>
          <a:xfrm>
            <a:off x="762122" y="918035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Deriving specific size and complexity questions from the GQM goal.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303850" y="1552856"/>
            <a:ext cx="86628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1ABC9C"/>
                </a:solidFill>
                <a:latin typeface="Arial"/>
                <a:ea typeface="Arial"/>
                <a:cs typeface="Arial"/>
                <a:sym typeface="Arial"/>
              </a:rPr>
              <a:t>Q1: </a:t>
            </a:r>
            <a:r>
              <a:rPr b="1" lang="en-CA">
                <a:solidFill>
                  <a:srgbClr val="1ABC9C"/>
                </a:solidFill>
              </a:rPr>
              <a:t>Does the planned scope of core ABM features (e.g., PIN authentication, cash withdrawals, and inventory maintenance) represent a manageable workload for the team?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Use Case Points (UCP)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Manual calculation; bridges requirements to codebase size.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303850" y="3076731"/>
            <a:ext cx="86628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Q2: </a:t>
            </a:r>
            <a:r>
              <a:rPr b="1" lang="en-CA">
                <a:solidFill>
                  <a:srgbClr val="9B59B6"/>
                </a:solidFill>
              </a:rPr>
              <a:t>How large will the simulated ABM codebase be when implementing the required self-service banking transactions?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Logical SLOC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 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Static analysis tools on Java source; objective count of non-comment, non-blank lines.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303850" y="4600631"/>
            <a:ext cx="86628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Q3: </a:t>
            </a:r>
            <a:r>
              <a:rPr b="1" lang="en-CA">
                <a:solidFill>
                  <a:srgbClr val="3498DB"/>
                </a:solidFill>
              </a:rPr>
              <a:t>How complex is the control flow required to validate simulated banking rules (e.g., verifying PINs and checking sufficient funds for a withdrawal)?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Metrics: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Cyclomatic Complexity (CC), Weighted Methods per Class (WMC)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Static analysis tools; measures branch logic and overall class weight.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2: GQM Questions &amp; Metrics (1/2)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/>
          <p:nvPr/>
        </p:nvSpPr>
        <p:spPr>
          <a:xfrm>
            <a:off x="762122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Design structure, coupling, and defect correlations.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507960" y="1501872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Q4: </a:t>
            </a:r>
            <a:r>
              <a:rPr b="1" lang="en-CA">
                <a:solidFill>
                  <a:srgbClr val="E74C3C"/>
                </a:solidFill>
              </a:rPr>
              <a:t>Will the components handling financial logic (like processing deposits) maintain strict separation from the ABM's graphical user interface?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LCOM (Lack of Cohesion of Methods)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Static analysis tool; objective score closer to 1 indicates lower cohesion</a:t>
            </a:r>
            <a:r>
              <a:rPr b="0" lang="en-CA" sz="1200" u="none" strike="noStrike">
                <a:solidFill>
                  <a:srgbClr val="ECF0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507960" y="3025752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Q5: </a:t>
            </a:r>
            <a:r>
              <a:rPr b="1" lang="en-CA">
                <a:solidFill>
                  <a:srgbClr val="F1C40F"/>
                </a:solidFill>
              </a:rPr>
              <a:t>How tightly coupled is the simulated card-reading and authentication system to the underlying customer account data?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Metric: 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Coupling Factor (CF)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 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Static analysis tool; measures how many classes rely on other classes.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507960" y="4549632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u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Q6: </a:t>
            </a:r>
            <a:r>
              <a:rPr b="1" lang="en-CA">
                <a:solidFill>
                  <a:srgbClr val="E67E22"/>
                </a:solidFill>
              </a:rPr>
              <a:t>Do the most complex ABM transaction features (such as transferring funds between accounts) result in higher defect rates during prototype testing?</a:t>
            </a:r>
            <a:endParaRPr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Candidate Metrics: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WMC vs Defect count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434343"/>
                </a:solidFill>
              </a:rPr>
              <a:t>Collection:</a:t>
            </a: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Defect log from testing paired with static analysis; satisfies D3 requirement.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2: GQM Questions &amp; Metrics (2/2)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762122" y="930960"/>
            <a:ext cx="761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4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Interpreting measures, indicators, and evaluation strategy.</a:t>
            </a:r>
            <a:endParaRPr b="0" sz="14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07960" y="1565608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n-CA" sz="1500" u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Metric vs. Measure vs. Indicator</a:t>
            </a:r>
            <a:endParaRPr b="0" sz="1500" u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434343"/>
                </a:solidFill>
              </a:rPr>
              <a:t>Measure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raw count (e.g. 7 branches). </a:t>
            </a:r>
            <a:r>
              <a:rPr b="1" lang="en-CA" sz="1300" u="none" strike="noStrike">
                <a:solidFill>
                  <a:srgbClr val="434343"/>
                </a:solidFill>
              </a:rPr>
              <a:t>Metric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assigned to attribute (e.g. CC is 7). </a:t>
            </a:r>
            <a:r>
              <a:rPr b="1" lang="en-CA" sz="1300" u="none" strike="noStrike">
                <a:solidFill>
                  <a:srgbClr val="434343"/>
                </a:solidFill>
              </a:rPr>
              <a:t>Indicator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metric + threshold to support decisions (e.g. flag CC &gt; 10).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07960" y="3089488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⚙️ 100% Automated Measurement Strategy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By targeting UCP, SLOC, CC, WMC, LCOM, and CF, all metrics can be calculated </a:t>
            </a:r>
            <a:r>
              <a:rPr b="1" lang="en-CA" sz="1500" u="none" strike="noStrike">
                <a:solidFill>
                  <a:srgbClr val="980000"/>
                </a:solidFill>
              </a:rPr>
              <a:t>objectively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via static analysis tools in D3. No subjective human testing is required.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07960" y="4613368"/>
            <a:ext cx="8127600" cy="1184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 u="none" strike="noStrike">
                <a:solidFill>
                  <a:srgbClr val="F39C12"/>
                </a:solidFill>
                <a:latin typeface="Arial"/>
                <a:ea typeface="Arial"/>
                <a:cs typeface="Arial"/>
                <a:sym typeface="Arial"/>
              </a:rPr>
              <a:t>🚫 Metric Misuse Warning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single metric from this set should be used in isolation to judge overall iBank quality. 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CC, WMC, and SLOC must be interpreted </a:t>
            </a:r>
            <a:r>
              <a:rPr b="1" lang="en-CA" sz="1500" u="none" strike="noStrike">
                <a:solidFill>
                  <a:srgbClr val="980000"/>
                </a:solidFill>
              </a:rPr>
              <a:t>together</a:t>
            </a:r>
            <a:r>
              <a:rPr b="0" lang="en-CA" sz="13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in context.</a:t>
            </a:r>
            <a:endParaRPr b="0" sz="13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2: Metrics Discussion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6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4687920" y="4209120"/>
            <a:ext cx="2317680" cy="231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2138040" y="4209120"/>
            <a:ext cx="2317680" cy="231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962680" y="1434600"/>
            <a:ext cx="2317680" cy="231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3412800" y="1434600"/>
            <a:ext cx="2317680" cy="231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863280" y="1434240"/>
            <a:ext cx="2317680" cy="1998720"/>
          </a:xfrm>
          <a:prstGeom prst="rect">
            <a:avLst/>
          </a:prstGeom>
          <a:noFill/>
          <a:ln>
            <a:noFill/>
          </a:ln>
          <a:effectLst>
            <a:outerShdw blurRad="57240" rotWithShape="0" algn="bl" dir="5400000" dist="19080">
              <a:srgbClr val="FDFD96">
                <a:alpha val="50196"/>
              </a:srgbClr>
            </a:outerShdw>
          </a:effectLst>
        </p:spPr>
      </p:pic>
      <p:sp>
        <p:nvSpPr>
          <p:cNvPr id="169" name="Google Shape;169;p16"/>
          <p:cNvSpPr/>
          <p:nvPr/>
        </p:nvSpPr>
        <p:spPr>
          <a:xfrm>
            <a:off x="3412800" y="3013560"/>
            <a:ext cx="2317680" cy="925920"/>
          </a:xfrm>
          <a:prstGeom prst="rect">
            <a:avLst/>
          </a:prstGeom>
          <a:solidFill>
            <a:srgbClr val="AEC6CF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Client, I want to </a:t>
            </a:r>
            <a:r>
              <a:rPr b="1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withdraw a specified amount</a:t>
            </a: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from my accounts to obtain cash.</a:t>
            </a:r>
            <a:endParaRPr b="0" sz="10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962680" y="3013560"/>
            <a:ext cx="2317680" cy="925920"/>
          </a:xfrm>
          <a:prstGeom prst="rect">
            <a:avLst/>
          </a:prstGeom>
          <a:solidFill>
            <a:srgbClr val="77DD77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Client, I want to </a:t>
            </a:r>
            <a:r>
              <a:rPr b="1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view current balances</a:t>
            </a: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to monitor my finances.</a:t>
            </a:r>
            <a:endParaRPr b="0" sz="10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138040" y="5602680"/>
            <a:ext cx="2317680" cy="925920"/>
          </a:xfrm>
          <a:prstGeom prst="rect">
            <a:avLst/>
          </a:prstGeom>
          <a:solidFill>
            <a:srgbClr val="CBAACB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Client, I want to </a:t>
            </a:r>
            <a:r>
              <a:rPr b="1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move money between my own accounts</a:t>
            </a: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to manage funds.</a:t>
            </a:r>
            <a:endParaRPr b="0" sz="10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687920" y="5602680"/>
            <a:ext cx="2317680" cy="9259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Client, I want to </a:t>
            </a:r>
            <a:r>
              <a:rPr b="1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end my session</a:t>
            </a: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so my account is protected after I am done.</a:t>
            </a:r>
            <a:endParaRPr b="0" sz="10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863280" y="3013560"/>
            <a:ext cx="2317680" cy="925920"/>
          </a:xfrm>
          <a:prstGeom prst="rect">
            <a:avLst/>
          </a:prstGeom>
          <a:solidFill>
            <a:srgbClr val="FDFD96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Client, I want to </a:t>
            </a:r>
            <a:r>
              <a:rPr b="1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select my card and enter my PIN</a:t>
            </a:r>
            <a:r>
              <a:rPr b="0" lang="en-CA" sz="109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to access accounts securely.</a:t>
            </a:r>
            <a:endParaRPr b="0" sz="10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3108960" y="2148120"/>
            <a:ext cx="375480" cy="34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64800" lIns="91425" spcFirstLastPara="1" rIns="91425" wrap="square" tIns="64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/>
          <p:nvPr/>
        </p:nvSpPr>
        <p:spPr>
          <a:xfrm rot="5400000">
            <a:off x="1394280" y="4247640"/>
            <a:ext cx="781560" cy="57492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72000" lIns="91425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754628" y="1279220"/>
            <a:ext cx="3558300" cy="6990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536160" y="3879000"/>
            <a:ext cx="272880" cy="4168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 rot="-1890600">
            <a:off x="5387040" y="3868920"/>
            <a:ext cx="291240" cy="391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384080" y="4926960"/>
            <a:ext cx="375480" cy="34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64800" lIns="91425" spcFirstLastPara="1" rIns="91425" wrap="square" tIns="64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3: User Story Board – Client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589675" y="880800"/>
            <a:ext cx="837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300">
                <a:solidFill>
                  <a:srgbClr val="666666"/>
                </a:solidFill>
              </a:rPr>
              <a:t>Client: </a:t>
            </a:r>
            <a:r>
              <a:rPr i="1" lang="en-CA" sz="1300">
                <a:solidFill>
                  <a:srgbClr val="666666"/>
                </a:solidFill>
              </a:rPr>
              <a:t>Everyday retail banking customers who hold chequing and/or savings accounts. They use the ABM for financial self-service.</a:t>
            </a:r>
            <a:endParaRPr i="1" sz="1300">
              <a:solidFill>
                <a:srgbClr val="666666"/>
              </a:solidFill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7163900" y="5373225"/>
            <a:ext cx="180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900">
                <a:solidFill>
                  <a:srgbClr val="8B8B8B"/>
                </a:solidFill>
              </a:rPr>
              <a:t>Image Source: Public access via Google Images. Used for educational purposes.</a:t>
            </a:r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3850" y="985572"/>
            <a:ext cx="272900" cy="2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6095880" y="1857825"/>
            <a:ext cx="2539802" cy="2539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4">
            <a:alphaModFix amt="50000"/>
          </a:blip>
          <a:srcRect b="18708" l="0" r="0" t="22272"/>
          <a:stretch/>
        </p:blipFill>
        <p:spPr>
          <a:xfrm>
            <a:off x="3301920" y="1857825"/>
            <a:ext cx="2539800" cy="29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/>
          <p:nvPr/>
        </p:nvSpPr>
        <p:spPr>
          <a:xfrm>
            <a:off x="3301920" y="3682665"/>
            <a:ext cx="2539800" cy="12225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Technician, I want to </a:t>
            </a:r>
            <a:r>
              <a:rPr b="1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input the amount of physical cash</a:t>
            </a: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I loaded into the machine so the internal inventory is accurate for customers.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095880" y="3682665"/>
            <a:ext cx="2539800" cy="1222500"/>
          </a:xfrm>
          <a:prstGeom prst="rect">
            <a:avLst/>
          </a:prstGeom>
          <a:solidFill>
            <a:srgbClr val="FF69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Technician, I want to </a:t>
            </a:r>
            <a:r>
              <a:rPr b="1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end my session</a:t>
            </a: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securely so that no unauthorized person can access the supervisor menu after I walk away.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7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07960" y="1857825"/>
            <a:ext cx="2539800" cy="2190240"/>
          </a:xfrm>
          <a:prstGeom prst="rect">
            <a:avLst/>
          </a:prstGeom>
          <a:noFill/>
          <a:ln>
            <a:noFill/>
          </a:ln>
          <a:effectLst>
            <a:outerShdw blurRad="57240" rotWithShape="0" algn="bl" dir="5400000" dist="19080">
              <a:srgbClr val="FDFD96">
                <a:alpha val="50196"/>
              </a:srgbClr>
            </a:outerShdw>
          </a:effectLst>
        </p:spPr>
      </p:pic>
      <p:sp>
        <p:nvSpPr>
          <p:cNvPr id="194" name="Google Shape;194;p17"/>
          <p:cNvSpPr/>
          <p:nvPr/>
        </p:nvSpPr>
        <p:spPr>
          <a:xfrm>
            <a:off x="507960" y="3682665"/>
            <a:ext cx="2539800" cy="1222500"/>
          </a:xfrm>
          <a:prstGeom prst="rect">
            <a:avLst/>
          </a:prstGeom>
          <a:solidFill>
            <a:srgbClr val="FDFD96"/>
          </a:solidFill>
          <a:ln>
            <a:noFill/>
          </a:ln>
        </p:spPr>
        <p:txBody>
          <a:bodyPr anchorCtr="0" anchor="ctr" bIns="83500" lIns="83500" spcFirstLastPara="1" rIns="83500" wrap="square" tIns="8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As a Technician, I want to </a:t>
            </a:r>
            <a:r>
              <a:rPr b="1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enter my Tech-ID and PIN </a:t>
            </a:r>
            <a:r>
              <a:rPr b="0" lang="en-CA" sz="1200" u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so that I can access the maintenance menu securely.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2989440" y="2954745"/>
            <a:ext cx="375600" cy="34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64800" lIns="91425" spcFirstLastPara="1" rIns="91425" wrap="square" tIns="64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801040" y="2954745"/>
            <a:ext cx="375600" cy="34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64800" lIns="91425" spcFirstLastPara="1" rIns="91425" wrap="square" tIns="64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3: User Story Board – Technician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589675" y="880800"/>
            <a:ext cx="837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300">
                <a:solidFill>
                  <a:srgbClr val="666666"/>
                </a:solidFill>
              </a:rPr>
              <a:t>ABM </a:t>
            </a:r>
            <a:r>
              <a:rPr i="1" lang="en-CA" sz="1300">
                <a:solidFill>
                  <a:srgbClr val="666666"/>
                </a:solidFill>
              </a:rPr>
              <a:t>Technician</a:t>
            </a:r>
            <a:r>
              <a:rPr i="1" lang="en-CA" sz="1300">
                <a:solidFill>
                  <a:srgbClr val="666666"/>
                </a:solidFill>
              </a:rPr>
              <a:t>: </a:t>
            </a:r>
            <a:r>
              <a:rPr i="1" lang="en-CA" sz="1300">
                <a:solidFill>
                  <a:srgbClr val="666666"/>
                </a:solidFill>
              </a:rPr>
              <a:t>Bank maintenance staff who access the machine via a secure supervisor mode to update internal physical cash inventories.</a:t>
            </a:r>
            <a:endParaRPr i="1" sz="1300">
              <a:solidFill>
                <a:srgbClr val="666666"/>
              </a:solidFill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576750" y="5252525"/>
            <a:ext cx="8389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300">
                <a:solidFill>
                  <a:srgbClr val="666666"/>
                </a:solidFill>
              </a:rPr>
              <a:t>iBank System</a:t>
            </a:r>
            <a:r>
              <a:rPr i="1" lang="en-CA" sz="1300">
                <a:solidFill>
                  <a:srgbClr val="666666"/>
                </a:solidFill>
              </a:rPr>
              <a:t>: T</a:t>
            </a:r>
            <a:r>
              <a:rPr i="1" lang="en-CA" sz="1300">
                <a:solidFill>
                  <a:srgbClr val="666666"/>
                </a:solidFill>
              </a:rPr>
              <a:t>he software-only ABM simulation that authenticates users, processes transactions, maintains account state in memory, and triggers internal sub-behaviors such as PIN validation and balance updates.</a:t>
            </a:r>
            <a:endParaRPr i="1" sz="1300">
              <a:solidFill>
                <a:srgbClr val="666666"/>
              </a:solidFill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281200" y="6184875"/>
            <a:ext cx="437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900">
                <a:solidFill>
                  <a:srgbClr val="8B8B8B"/>
                </a:solidFill>
              </a:rPr>
              <a:t>Image Source: Public access via Google Images. Used for educational purposes.</a:t>
            </a:r>
            <a:endParaRPr/>
          </a:p>
        </p:txBody>
      </p:sp>
      <p:pic>
        <p:nvPicPr>
          <p:cNvPr id="202" name="Google Shape;20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850" y="1036847"/>
            <a:ext cx="272900" cy="27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1200" y="5408572"/>
            <a:ext cx="272900" cy="2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Problem 3: Use Case Diagram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0" name="Google Shape;2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850" y="1548425"/>
            <a:ext cx="8662675" cy="389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89675" y="5901950"/>
            <a:ext cx="6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900">
                <a:solidFill>
                  <a:srgbClr val="999999"/>
                </a:solidFill>
              </a:rPr>
              <a:t>UML Diagram Generation: The Use Case diagrams presented in this deck were programmatically rendered using the open-source PlantUML syntax via the PlantUML extension for Visual Studio Code.</a:t>
            </a:r>
            <a:endParaRPr i="1" sz="9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317520" y="1117898"/>
            <a:ext cx="2031600" cy="1015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Client OR ABM Technician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2476440" y="1117898"/>
            <a:ext cx="2031600" cy="1015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635350" y="1117903"/>
            <a:ext cx="4331100" cy="1015800"/>
          </a:xfrm>
          <a:prstGeom prst="roundRect">
            <a:avLst>
              <a:gd fmla="val 1709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Application is running; initial card-selection screen is displayed.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317525" y="2201048"/>
            <a:ext cx="4190700" cy="3621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User provides identifier (Client inputs Card; Tech inputs Tech-ID).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prompts for PIN.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User enters PIN.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triggers UC-06 (Validate PIN).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routes user: Clients see Main Menu; Technicians see Maintenance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635350" y="2201050"/>
            <a:ext cx="4331100" cy="1929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PIN is incorrect -- system displays error and increments attempt counter. After 3 failures, system displays lockout message and resets.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E2: No card number selected -- system prompts again.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4635350" y="4299375"/>
            <a:ext cx="43311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User is securely authenticated and routed to their respective role-based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UC-01: User </a:t>
            </a: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Authentication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317520" y="1015920"/>
            <a:ext cx="2031480" cy="101592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Client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476440" y="1015920"/>
            <a:ext cx="2031480" cy="101592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635350" y="1015925"/>
            <a:ext cx="4331100" cy="1015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UC-01 has been completed successfully (Logged in as Client)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17525" y="1977974"/>
            <a:ext cx="4190700" cy="3820200"/>
          </a:xfrm>
          <a:prstGeom prst="roundRect">
            <a:avLst>
              <a:gd fmla="val 332" name="adj"/>
            </a:avLst>
          </a:prstGeom>
          <a:noFill/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2ECC71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'Withdraw' from the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account type (chequing or savings).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enters desired withdrawal amount.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verifies amount is a positive multiple of 20 and &lt;= balance.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deducts amount from account in memory.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displays simulated receipt with updated balance</a:t>
            </a:r>
            <a:r>
              <a:rPr b="0" lang="en-CA" sz="1200" u="none" strike="noStrike">
                <a:solidFill>
                  <a:srgbClr val="ECF0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635350" y="1977975"/>
            <a:ext cx="4331100" cy="2158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Amount not a multiple of 20 -- error, request re-entry.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E2: Amount exceeds balance -- insufficient-funds message, return to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E3: Client cancels -- return to main menu without modifying balance.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635350" y="4274800"/>
            <a:ext cx="43311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Account balance is reduced by the withdrawn amount (in memory). A transaction summary is displayed.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UC-02: Withdraw Cash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/>
          <p:nvPr/>
        </p:nvSpPr>
        <p:spPr>
          <a:xfrm>
            <a:off x="317520" y="1015920"/>
            <a:ext cx="2031480" cy="101592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Client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476440" y="1015920"/>
            <a:ext cx="2031480" cy="101592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635350" y="1015925"/>
            <a:ext cx="4331100" cy="101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UC-01 has been completed successfully (Logged in as Client)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17525" y="2201047"/>
            <a:ext cx="4190700" cy="2936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'Balance Inquiry' from the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retrieves and displays the current balance of both the chequing and savings accounts.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635350" y="2201046"/>
            <a:ext cx="4190700" cy="1648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No accounts found for the client -- system displays an error (should not occur if sample data is correctly initialized).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635350" y="4018875"/>
            <a:ext cx="4190700" cy="1118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2980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account state is changed. Client has seen the current balances.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UC-03: Check Balance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/>
          <p:nvPr/>
        </p:nvSpPr>
        <p:spPr>
          <a:xfrm>
            <a:off x="317520" y="1060535"/>
            <a:ext cx="2031600" cy="101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Client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476440" y="1060535"/>
            <a:ext cx="2031600" cy="101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635350" y="1060540"/>
            <a:ext cx="4331100" cy="101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UC-01 completed (Logged in as Client). 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has at least two accounts (chequing &amp; savings).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317525" y="2201048"/>
            <a:ext cx="4190700" cy="3394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'Transfer' from the menu.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the source account.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the destination account.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enters the transfer amount.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verifies source account has sufficient funds.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deducts from source and adds to destination in memory.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displays a transfer summary.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635350" y="2201050"/>
            <a:ext cx="4331100" cy="2126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Source and destination are the same -- displays error, returns to screen.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E2: Insufficient funds in source -- displays error message.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E3: Client cancels -- returns to main menu without modification.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635350" y="4497075"/>
            <a:ext cx="4331100" cy="1098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Source account balance is reduced; destination account balance is increased by the same amount (in memory)</a:t>
            </a:r>
            <a:r>
              <a:rPr b="0" lang="en-CA" sz="1200" u="none" strike="noStrike">
                <a:solidFill>
                  <a:srgbClr val="ECF0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UC-04: Transfer Funds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/>
          <p:nvPr/>
        </p:nvSpPr>
        <p:spPr>
          <a:xfrm>
            <a:off x="317525" y="1015924"/>
            <a:ext cx="2031600" cy="8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Bank Client OR ABM Technician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476444" y="1015924"/>
            <a:ext cx="2031600" cy="8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4635352" y="1015929"/>
            <a:ext cx="4331100" cy="8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session is active (UC-01 completed)</a:t>
            </a:r>
            <a:r>
              <a:rPr b="0" lang="en-CA" sz="1100" u="none" strike="noStrike">
                <a:solidFill>
                  <a:srgbClr val="ECF0F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17525" y="2201048"/>
            <a:ext cx="4190700" cy="3305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Client selects 'Exit' OR the session timer expires.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displays a farewell message.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clears session state and returns to the initial card-selection screen.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4635350" y="2201050"/>
            <a:ext cx="4331100" cy="1616700"/>
          </a:xfrm>
          <a:prstGeom prst="roundRect">
            <a:avLst>
              <a:gd fmla="val 176" name="adj"/>
            </a:avLst>
          </a:prstGeom>
          <a:noFill/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None significant beyond the timer-triggered path, which is handled as a normal scenario variant.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635350" y="3983475"/>
            <a:ext cx="43311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 client is authenticated. The application is ready for the next client.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UC-05: End Session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/>
          <p:nvPr/>
        </p:nvSpPr>
        <p:spPr>
          <a:xfrm>
            <a:off x="317525" y="1185124"/>
            <a:ext cx="2031600" cy="73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 (Internal Trigger)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2476445" y="1185124"/>
            <a:ext cx="2031600" cy="73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4635375" y="1185125"/>
            <a:ext cx="4331100" cy="73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has captured card number and PIN input.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317525" y="2201048"/>
            <a:ext cx="4190700" cy="3491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queries in-memory test data for the provided User ID.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extracts the stored PIN for that specific user.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compares the entered PIN string with the stored PIN string.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returns 'Success' boolean and Role type (Client/Tech) to the base use case.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635350" y="2201050"/>
            <a:ext cx="4331100" cy="17505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PIN does not match -- System returns 'Failure' boolean.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E2: Card number not found in test data -- System returns 'Failure'.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4635350" y="4168975"/>
            <a:ext cx="43311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Authentication validity is resolved and passed back to UC-01.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UC-06: Validate PIN (Sub-Behavior)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/>
          <p:nvPr/>
        </p:nvSpPr>
        <p:spPr>
          <a:xfrm>
            <a:off x="317520" y="1185120"/>
            <a:ext cx="203148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 (Internal Trigger)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2476440" y="1185120"/>
            <a:ext cx="203160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4635350" y="1185125"/>
            <a:ext cx="433110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 valid transaction amount is approved by the calling use case.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17525" y="2201047"/>
            <a:ext cx="4190700" cy="29997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identifies target account object.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adds or subtracts the approved amount.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saves the new balance in memory.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returns updated balance to calling use case.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4635350" y="2201050"/>
            <a:ext cx="4331100" cy="16869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D35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Account object not found in memory -- System throws internal exception.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4635350" y="4057875"/>
            <a:ext cx="4331100" cy="1143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In-memory balance is updated. State is consistent.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UC-07: Update Account Balance (Sub)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/>
          <p:nvPr/>
        </p:nvSpPr>
        <p:spPr>
          <a:xfrm>
            <a:off x="317520" y="1185120"/>
            <a:ext cx="203148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👤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ABM Technician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2476440" y="1185120"/>
            <a:ext cx="203148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Supporting Actor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iBank System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4635350" y="1185125"/>
            <a:ext cx="4331100" cy="84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200" u="none" strike="noStrik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📋 </a:t>
            </a:r>
            <a:r>
              <a:rPr b="1" lang="en-CA" sz="12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Preconditions</a:t>
            </a:r>
            <a:endParaRPr b="0" sz="1200" u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1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Application is at the idle/start screen.</a:t>
            </a:r>
            <a:endParaRPr b="0" sz="11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317525" y="2201048"/>
            <a:ext cx="4190700" cy="3335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✅ Main Success Scenario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displays the current internal ABM physical cash inventory total.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Technician inputs the amount of physical cash they just added to the hardware cassettes.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adds the newly inputted amount to the internal cash inventory variable.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logs the replenishment event.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AutoNum type="arabicPeriod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System displays 'Inventory Updated' confirmation.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4635350" y="2201050"/>
            <a:ext cx="4331100" cy="1642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⚠️ Exceptions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E1: Invalid Technician ID/PIN — System denies access and returns to idle screen.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rial"/>
              <a:buChar char="●"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E2: Technician enters negative cash amount — System rejects input.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4635350" y="4013175"/>
            <a:ext cx="4331100" cy="15234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300" u="none" strike="noStrik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🏁 Postconditions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-CA" sz="12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ABM internal cash inventory is updated and ready to dispense to customers.</a:t>
            </a:r>
            <a:endParaRPr b="0" sz="12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UC-08: Replenish Cash Inventory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/>
          <p:nvPr/>
        </p:nvSpPr>
        <p:spPr>
          <a:xfrm>
            <a:off x="303850" y="1049325"/>
            <a:ext cx="8662800" cy="4980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5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[1] H. Tavakoli, "The CASTROFF Framework: A Professional Standard for Prompt Engineering," in Prompt Engineering for Everyone, Apress, 2026. https://doi.org/10.1007/979-8-8688-2338-1_6</a:t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434343"/>
                </a:solidFill>
              </a:rPr>
              <a:t>[2] V. R. Basili and D. M. Weiss, "A Methodology for Collecting Valid Software Engineering Data," IEEE Transactions on Software Engineering, vol. SE-10, no. 6, pp. 728-738, 1984.</a:t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5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[3] </a:t>
            </a:r>
            <a:r>
              <a:rPr b="0" lang="en-CA" sz="15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Bank Act, S.C. 1991</a:t>
            </a:r>
            <a:r>
              <a:rPr b="0" lang="en-CA" sz="15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c. 46. [Online]. Available: Justice Laws Website, Government of Canada.</a:t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15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[4] </a:t>
            </a:r>
            <a:r>
              <a:rPr b="0" lang="en-CA" sz="15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Accessible Canada Act, S.C. 2019</a:t>
            </a:r>
            <a:r>
              <a:rPr b="0" lang="en-CA" sz="15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, c. 10. [Online]. Available: Justice Laws Website, Government of Canada.</a:t>
            </a:r>
            <a:endParaRPr b="0" sz="1500" u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434343"/>
                </a:solidFill>
              </a:rPr>
              <a:t>[5] </a:t>
            </a:r>
            <a:r>
              <a:rPr lang="en-CA" sz="1500" u="sng">
                <a:solidFill>
                  <a:schemeClr val="hlink"/>
                </a:solidFill>
                <a:hlinkClick r:id="rId5"/>
              </a:rPr>
              <a:t>Personal Information Protection and Electronic Documents Act, S.C. 2000, c. 5</a:t>
            </a:r>
            <a:r>
              <a:rPr lang="en-CA" sz="1500">
                <a:solidFill>
                  <a:srgbClr val="434343"/>
                </a:solidFill>
              </a:rPr>
              <a:t>. [Online]. Available: </a:t>
            </a:r>
            <a:r>
              <a:rPr lang="en-CA" sz="1500">
                <a:solidFill>
                  <a:srgbClr val="434343"/>
                </a:solidFill>
              </a:rPr>
              <a:t>Justice Laws Website, Government of Canada.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303840" y="105480"/>
            <a:ext cx="8662680" cy="81253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89680" y="238680"/>
            <a:ext cx="8091000" cy="5490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1115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 sz="32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1270080" y="2709000"/>
            <a:ext cx="6603480" cy="13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800" u="none" strike="noStrike">
                <a:solidFill>
                  <a:srgbClr val="A61C00"/>
                </a:solidFill>
                <a:latin typeface="Arial"/>
                <a:ea typeface="Arial"/>
                <a:cs typeface="Arial"/>
                <a:sym typeface="Arial"/>
              </a:rPr>
              <a:t>Questions &amp; Answers</a:t>
            </a:r>
            <a:endParaRPr b="0" sz="4800" u="none" strike="noStrike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270080" y="4063680"/>
            <a:ext cx="660348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CA" sz="16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Thank you for reviewing </a:t>
            </a:r>
            <a:r>
              <a:rPr i="1" lang="en-CA" sz="1600">
                <a:solidFill>
                  <a:srgbClr val="666666"/>
                </a:solidFill>
              </a:rPr>
              <a:t>our</a:t>
            </a:r>
            <a:r>
              <a:rPr b="0" i="1" lang="en-CA" sz="1600" u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iBank Delivery 1 Presentation</a:t>
            </a:r>
            <a:endParaRPr b="0" sz="1600" u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1">
  <a:themeElements>
    <a:clrScheme name="Default 1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